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endParaRPr lang="ko-KR"/>
          </a:p>
        </p:txBody>
      </p:sp>
      <p:sp>
        <p:nvSpPr>
          <p:cNvPr id="3" name="s3"/>
          <p:cNvSpPr/>
          <p:nvPr/>
        </p:nvSpPr>
        <p:spPr>
          <a:xfrm>
            <a:off x="1000000" y="2280000"/>
            <a:ext cx="10192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4000" b="1" dirty="0">
                <a:solidFill>
                  <a:srgbClr val="FFFFFF"/>
                </a:solidFill>
                <a:latin typeface="Malgun Gothic"/>
                <a:ea typeface="Malgun Gothic"/>
              </a:rPr>
              <a:t>React </a:t>
            </a:r>
            <a:r>
              <a:rPr lang="ko-KR" sz="4000" b="1" dirty="0" err="1">
                <a:solidFill>
                  <a:srgbClr val="FFFFFF"/>
                </a:solidFill>
                <a:latin typeface="Malgun Gothic"/>
                <a:ea typeface="Malgun Gothic"/>
              </a:rPr>
              <a:t>App</a:t>
            </a:r>
            <a:r>
              <a:rPr lang="ko-KR" sz="4000" b="1" dirty="0">
                <a:solidFill>
                  <a:srgbClr val="FFFFFF"/>
                </a:solidFill>
                <a:latin typeface="Malgun Gothic"/>
                <a:ea typeface="Malgun Gothic"/>
              </a:rPr>
              <a:t> </a:t>
            </a:r>
            <a:r>
              <a:rPr lang="ko-KR" sz="4000" b="1" dirty="0" err="1">
                <a:solidFill>
                  <a:srgbClr val="FFFFFF"/>
                </a:solidFill>
                <a:latin typeface="Malgun Gothic"/>
                <a:ea typeface="Malgun Gothic"/>
              </a:rPr>
              <a:t>Scaffold</a:t>
            </a:r>
            <a:r>
              <a:rPr lang="ko-KR" sz="4000" b="1" dirty="0">
                <a:solidFill>
                  <a:srgbClr val="FFFFFF"/>
                </a:solidFill>
                <a:latin typeface="Malgun Gothic"/>
                <a:ea typeface="Malgun Gothic"/>
              </a:rPr>
              <a:t> 상담 자료</a:t>
            </a:r>
          </a:p>
        </p:txBody>
      </p:sp>
      <p:sp>
        <p:nvSpPr>
          <p:cNvPr id="4" name="s4"/>
          <p:cNvSpPr/>
          <p:nvPr/>
        </p:nvSpPr>
        <p:spPr>
          <a:xfrm>
            <a:off x="5496000" y="3480000"/>
            <a:ext cx="1200000" cy="500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endParaRPr lang="ko-KR"/>
          </a:p>
        </p:txBody>
      </p:sp>
      <p:sp>
        <p:nvSpPr>
          <p:cNvPr id="5" name="s5"/>
          <p:cNvSpPr/>
          <p:nvPr/>
        </p:nvSpPr>
        <p:spPr>
          <a:xfrm>
            <a:off x="1000000" y="3680000"/>
            <a:ext cx="10192000" cy="5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700" dirty="0">
                <a:solidFill>
                  <a:srgbClr val="D9E2F3"/>
                </a:solidFill>
                <a:latin typeface="Malgun Gothic"/>
                <a:ea typeface="Malgun Gothic"/>
              </a:rPr>
              <a:t>SI 프로젝트에 투입되는 순간부터 바로 개발을 시작하기 위한, 사내 표준 프론트엔드 스캐폴드</a:t>
            </a:r>
          </a:p>
        </p:txBody>
      </p:sp>
      <p:sp>
        <p:nvSpPr>
          <p:cNvPr id="6" name="s6"/>
          <p:cNvSpPr/>
          <p:nvPr/>
        </p:nvSpPr>
        <p:spPr>
          <a:xfrm>
            <a:off x="1000000" y="5540000"/>
            <a:ext cx="10192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dirty="0">
                <a:solidFill>
                  <a:srgbClr val="8FAADC"/>
                </a:solidFill>
                <a:latin typeface="Malgun Gothic"/>
                <a:ea typeface="Malgun Gothic"/>
              </a:rPr>
              <a:t>2026. 07   |   React 19 · TypeScript · Vite 기반 스타터 프로젝트</a:t>
            </a:r>
          </a:p>
        </p:txBody>
      </p:sp>
      <p:sp>
        <p:nvSpPr>
          <p:cNvPr id="7" name="s7"/>
          <p:cNvSpPr/>
          <p:nvPr/>
        </p:nvSpPr>
        <p:spPr>
          <a:xfrm>
            <a:off x="1000000" y="5900000"/>
            <a:ext cx="10192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000" dirty="0">
                <a:solidFill>
                  <a:srgbClr val="8FAADC"/>
                </a:solidFill>
                <a:latin typeface="Malgun Gothic"/>
                <a:ea typeface="Malgun Gothic"/>
              </a:rPr>
              <a:t>http://redsky0212.dothome.co.kr/axiom/react-guide/docs/started/getting-started/overview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오늘 드릴 말씀은 세 가지입니다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300000" bIns="76200" anchor="ctr"/>
          <a:lstStyle/>
          <a:p>
            <a:pPr algn="l">
              <a:buNone/>
            </a:pPr>
            <a:r>
              <a:rPr lang="ko-KR" sz="1700" b="1" dirty="0">
                <a:solidFill>
                  <a:srgbClr val="1F3864"/>
                </a:solidFill>
                <a:latin typeface="Malgun Gothic"/>
                <a:ea typeface="Malgun Gothic"/>
              </a:rPr>
              <a:t>무엇을 만들었나 (사내 표준 React 스캐폴드)</a:t>
            </a:r>
          </a:p>
          <a:p>
            <a:pPr algn="l">
              <a:spcBef>
                <a:spcPts val="4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SI 프로젝트에 투입되면 곧바로 업무 화면을 만들 수 있도록 구조 · 규칙 · 작업흐름을 미리 갖춰 둔 스타터 프로젝트입니다</a:t>
            </a:r>
          </a:p>
        </p:txBody>
      </p:sp>
      <p:sp>
        <p:nvSpPr>
          <p:cNvPr id="7" name="s7"/>
          <p:cNvSpPr/>
          <p:nvPr/>
        </p:nvSpPr>
        <p:spPr>
          <a:xfrm>
            <a:off x="952500" y="2019300"/>
            <a:ext cx="660400" cy="660400"/>
          </a:xfrm>
          <a:prstGeom prst="roundRect">
            <a:avLst/>
          </a:prstGeom>
          <a:solidFill>
            <a:srgbClr val="2E5395"/>
          </a:solidFill>
          <a:ln>
            <a:noFill/>
          </a:ln>
        </p:spPr>
        <p:txBody>
          <a:bodyPr wrap="square" lIns="0" tIns="46800" rIns="0" bIns="46800" anchor="ctr"/>
          <a:lstStyle/>
          <a:p>
            <a:pPr algn="ctr">
              <a:buNone/>
            </a:pPr>
            <a:r>
              <a:rPr lang="ko-KR" sz="2200" b="1" dirty="0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8" name="s8"/>
          <p:cNvSpPr/>
          <p:nvPr/>
        </p:nvSpPr>
        <p:spPr>
          <a:xfrm>
            <a:off x="700000" y="320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300000" bIns="76200" anchor="ctr"/>
          <a:lstStyle/>
          <a:p>
            <a:pPr algn="l">
              <a:buNone/>
            </a:pPr>
            <a:r>
              <a:rPr lang="ko-KR" sz="1700" b="1" dirty="0">
                <a:solidFill>
                  <a:srgbClr val="1F3864"/>
                </a:solidFill>
                <a:latin typeface="Malgun Gothic"/>
                <a:ea typeface="Malgun Gothic"/>
              </a:rPr>
              <a:t>무엇을 지키고 싶은가</a:t>
            </a:r>
          </a:p>
          <a:p>
            <a:pPr algn="l">
              <a:spcBef>
                <a:spcPts val="4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아이디어가 아니라 저희가 직접 작성한 코드 그 자체 — 누가 언제 만들었는지를 남기고, 회사와 개인 사이의 권리 관계를 정리해 두고 싶습니다</a:t>
            </a:r>
          </a:p>
        </p:txBody>
      </p:sp>
      <p:sp>
        <p:nvSpPr>
          <p:cNvPr id="9" name="s9"/>
          <p:cNvSpPr/>
          <p:nvPr/>
        </p:nvSpPr>
        <p:spPr>
          <a:xfrm>
            <a:off x="952500" y="3569300"/>
            <a:ext cx="660400" cy="660400"/>
          </a:xfrm>
          <a:prstGeom prst="round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46800" rIns="0" bIns="46800" anchor="ctr"/>
          <a:lstStyle/>
          <a:p>
            <a:pPr algn="ctr">
              <a:buNone/>
            </a:pPr>
            <a:r>
              <a:rPr lang="ko-KR" sz="2200" b="1" dirty="0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0" name="s10"/>
          <p:cNvSpPr/>
          <p:nvPr/>
        </p:nvSpPr>
        <p:spPr>
          <a:xfrm>
            <a:off x="700000" y="475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300000" bIns="76200" anchor="ctr"/>
          <a:lstStyle/>
          <a:p>
            <a:pPr algn="l">
              <a:buNone/>
            </a:pPr>
            <a:r>
              <a:rPr lang="ko-KR" sz="1700" b="1" dirty="0">
                <a:solidFill>
                  <a:srgbClr val="1F3864"/>
                </a:solidFill>
                <a:latin typeface="Malgun Gothic"/>
                <a:ea typeface="Malgun Gothic"/>
              </a:rPr>
              <a:t>무엇을 여쭙고 싶은가</a:t>
            </a:r>
          </a:p>
          <a:p>
            <a:pPr algn="l">
              <a:spcBef>
                <a:spcPts val="4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특허</a:t>
            </a:r>
            <a:r>
              <a:rPr lang="en-US" alt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 </a:t>
            </a:r>
            <a:r>
              <a:rPr lang="ko-KR" altLang="en-US" sz="1250" dirty="0">
                <a:solidFill>
                  <a:srgbClr val="595959"/>
                </a:solidFill>
                <a:latin typeface="Malgun Gothic"/>
                <a:ea typeface="Malgun Gothic"/>
              </a:rPr>
              <a:t>및 </a:t>
            </a: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저작권(프로그램) 등록이 맞는 선택인지, 등록 전에 무엇을 정리해야 하는지 여쭙습니다</a:t>
            </a:r>
          </a:p>
        </p:txBody>
      </p:sp>
      <p:sp>
        <p:nvSpPr>
          <p:cNvPr id="11" name="s11"/>
          <p:cNvSpPr/>
          <p:nvPr/>
        </p:nvSpPr>
        <p:spPr>
          <a:xfrm>
            <a:off x="952500" y="5119300"/>
            <a:ext cx="660400" cy="6604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txBody>
          <a:bodyPr wrap="square" lIns="0" tIns="46800" rIns="0" bIns="46800" anchor="ctr"/>
          <a:lstStyle/>
          <a:p>
            <a:pPr algn="ctr">
              <a:buNone/>
            </a:pPr>
            <a:r>
              <a:rPr lang="ko-KR" sz="2200" b="1" dirty="0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2" name="s12"/>
          <p:cNvSpPr/>
          <p:nvPr/>
        </p:nvSpPr>
        <p:spPr>
          <a:xfrm>
            <a:off x="7900000" y="6470000"/>
            <a:ext cx="3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React App Scaffold 저작권 상담 자료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저희가 만든 것 — React App Scaffold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프로젝트를 시작할 때마다 반복되던 세팅을, 한 번에 끝내 놓은 코드 묶음입니다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9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240000" tIns="76200" rIns="143000" bIns="76200" anchor="ctr"/>
          <a:lstStyle/>
          <a:p>
            <a:pPr algn="l">
              <a:buNone/>
            </a:pPr>
            <a:r>
              <a:rPr lang="ko-KR" sz="1500" b="1" dirty="0">
                <a:solidFill>
                  <a:srgbClr val="C55A11"/>
                </a:solidFill>
                <a:latin typeface="Malgun Gothic"/>
                <a:ea typeface="Malgun Gothic"/>
              </a:rPr>
              <a:t>클론 → 설치 → 실행,   </a:t>
            </a: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세 줄이면 프로젝트가 시작됩니다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라우팅 · 상태관리 · UI 컴포넌트 · 디자인 토큰 · 테스트가 이미 연결된 화면이 그대로 뜹니다</a:t>
            </a:r>
          </a:p>
        </p:txBody>
      </p:sp>
      <p:sp>
        <p:nvSpPr>
          <p:cNvPr id="7" name="s7"/>
          <p:cNvSpPr/>
          <p:nvPr/>
        </p:nvSpPr>
        <p:spPr>
          <a:xfrm>
            <a:off x="700000" y="2750000"/>
            <a:ext cx="3300000" cy="19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200000" tIns="76200" rIns="200000" bIns="76200" anchor="ctr"/>
          <a:lstStyle/>
          <a:p>
            <a:pPr algn="ctr"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개발자 · 디자이너 · 퍼블리셔</a:t>
            </a:r>
          </a:p>
          <a:p>
            <a:pPr algn="ctr">
              <a:spcBef>
                <a:spcPts val="400"/>
              </a:spcBef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새 SI 프로젝트에 투입</a:t>
            </a:r>
          </a:p>
        </p:txBody>
      </p:sp>
      <p:sp>
        <p:nvSpPr>
          <p:cNvPr id="8" name="s8"/>
          <p:cNvSpPr/>
          <p:nvPr/>
        </p:nvSpPr>
        <p:spPr>
          <a:xfrm>
            <a:off x="4000000" y="2750000"/>
            <a:ext cx="446000" cy="19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9" name="s9"/>
          <p:cNvSpPr/>
          <p:nvPr/>
        </p:nvSpPr>
        <p:spPr>
          <a:xfrm>
            <a:off x="4446000" y="2750000"/>
            <a:ext cx="3300000" cy="19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200000" tIns="46800" rIns="200000" bIns="46800" anchor="ctr"/>
          <a:lstStyle/>
          <a:p>
            <a:pPr algn="ctr">
              <a:buNone/>
            </a:pPr>
            <a:r>
              <a:rPr lang="ko-KR" sz="1500" b="1" dirty="0">
                <a:solidFill>
                  <a:srgbClr val="FFFFFF"/>
                </a:solidFill>
                <a:latin typeface="Malgun Gothic"/>
                <a:ea typeface="Malgun Gothic"/>
              </a:rPr>
              <a:t>React App Scaffold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200" b="1" dirty="0">
                <a:solidFill>
                  <a:srgbClr val="F4B183"/>
                </a:solidFill>
                <a:latin typeface="Malgun Gothic"/>
                <a:ea typeface="Malgun Gothic"/>
              </a:rPr>
              <a:t>(본 저작물)</a:t>
            </a:r>
          </a:p>
          <a:p>
            <a:pPr algn="ctr">
              <a:spcBef>
                <a:spcPts val="500"/>
              </a:spcBef>
              <a:buNone/>
            </a:pPr>
            <a:r>
              <a:rPr lang="ko-KR" sz="1150" dirty="0">
                <a:solidFill>
                  <a:srgbClr val="D9E2F3"/>
                </a:solidFill>
                <a:latin typeface="Malgun Gothic"/>
                <a:ea typeface="Malgun Gothic"/>
              </a:rPr>
              <a:t>구조 · 규칙 · 작업흐름을</a:t>
            </a:r>
          </a:p>
          <a:p>
            <a:pPr algn="ctr">
              <a:buNone/>
            </a:pPr>
            <a:r>
              <a:rPr lang="ko-KR" sz="1150" dirty="0">
                <a:solidFill>
                  <a:srgbClr val="D9E2F3"/>
                </a:solidFill>
                <a:latin typeface="Malgun Gothic"/>
                <a:ea typeface="Malgun Gothic"/>
              </a:rPr>
              <a:t>폴더와 코드로 제공</a:t>
            </a:r>
          </a:p>
        </p:txBody>
      </p:sp>
      <p:sp>
        <p:nvSpPr>
          <p:cNvPr id="10" name="s10"/>
          <p:cNvSpPr/>
          <p:nvPr/>
        </p:nvSpPr>
        <p:spPr>
          <a:xfrm>
            <a:off x="7746000" y="2750000"/>
            <a:ext cx="446000" cy="19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1" name="s11"/>
          <p:cNvSpPr/>
          <p:nvPr/>
        </p:nvSpPr>
        <p:spPr>
          <a:xfrm>
            <a:off x="8192000" y="2750000"/>
            <a:ext cx="3300000" cy="19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200000" tIns="76200" rIns="200000" bIns="76200" anchor="ctr"/>
          <a:lstStyle/>
          <a:p>
            <a:pPr algn="ctr"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SI 프로젝트 산출물</a:t>
            </a:r>
          </a:p>
          <a:p>
            <a:pPr algn="ctr">
              <a:spcBef>
                <a:spcPts val="400"/>
              </a:spcBef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첫날부터 업무 화면 개발</a:t>
            </a:r>
          </a:p>
        </p:txBody>
      </p:sp>
      <p:sp>
        <p:nvSpPr>
          <p:cNvPr id="12" name="s12"/>
          <p:cNvSpPr/>
          <p:nvPr/>
        </p:nvSpPr>
        <p:spPr>
          <a:xfrm>
            <a:off x="700000" y="5000000"/>
            <a:ext cx="10792000" cy="10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300000" tIns="76200" rIns="300000" bIns="76200" anchor="ctr"/>
          <a:lstStyle/>
          <a:p>
            <a:pPr algn="l">
              <a:buNone/>
            </a:pPr>
            <a:r>
              <a:rPr lang="ko-KR" sz="1300" b="1" dirty="0">
                <a:solidFill>
                  <a:srgbClr val="F4B183"/>
                </a:solidFill>
                <a:latin typeface="Malgun Gothic"/>
                <a:ea typeface="Malgun Gothic"/>
              </a:rPr>
              <a:t>현재 상태   </a:t>
            </a: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TypeScript 165개 파일 · 18,131줄 · 137회 커밋 — 실제 사내 프로젝트 투입을 전제로 만들었습니다</a:t>
            </a:r>
          </a:p>
        </p:txBody>
      </p:sp>
      <p:sp>
        <p:nvSpPr>
          <p:cNvPr id="13" name="s13"/>
          <p:cNvSpPr/>
          <p:nvPr/>
        </p:nvSpPr>
        <p:spPr>
          <a:xfrm>
            <a:off x="7900000" y="6470000"/>
            <a:ext cx="3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React App Scaffold 저작권 상담 자료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왜 만들었나 — 투입 현장에서 반복되던 혼란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프로젝트가 시작될 때마다 </a:t>
            </a:r>
            <a:r>
              <a:rPr lang="ko-KR" sz="1400" b="1" dirty="0">
                <a:solidFill>
                  <a:srgbClr val="C55A11"/>
                </a:solidFill>
                <a:latin typeface="Malgun Gothic"/>
                <a:ea typeface="Malgun Gothic"/>
              </a:rPr>
              <a:t>똑같은 다섯 가지 문제</a:t>
            </a: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가 되풀이되었습니다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00000" tIns="76200" rIns="240000" bIns="76200" anchor="ctr"/>
          <a:lstStyle/>
          <a:p>
            <a:pPr algn="l">
              <a:buNone/>
            </a:pPr>
            <a:r>
              <a:rPr lang="ko-KR" sz="1400" b="1" dirty="0">
                <a:solidFill>
                  <a:srgbClr val="1F3864"/>
                </a:solidFill>
                <a:latin typeface="Malgun Gothic"/>
                <a:ea typeface="Malgun Gothic"/>
              </a:rPr>
              <a:t>디자인 토큰을 어디에 둘지 규칙이 없습니다</a:t>
            </a: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   Figma에서 넘어온 색상·간격을 각자 다른 곳에 다르게 적어 넣습니다</a:t>
            </a:r>
          </a:p>
        </p:txBody>
      </p:sp>
      <p:sp>
        <p:nvSpPr>
          <p:cNvPr id="7" name="s7"/>
          <p:cNvSpPr/>
          <p:nvPr/>
        </p:nvSpPr>
        <p:spPr>
          <a:xfrm>
            <a:off x="863600" y="1811000"/>
            <a:ext cx="508000" cy="508000"/>
          </a:xfrm>
          <a:prstGeom prst="round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46800" rIns="0" bIns="46800" anchor="ctr"/>
          <a:lstStyle/>
          <a:p>
            <a:pPr algn="ctr">
              <a:buNone/>
            </a:pP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8" name="s8"/>
          <p:cNvSpPr/>
          <p:nvPr/>
        </p:nvSpPr>
        <p:spPr>
          <a:xfrm>
            <a:off x="700000" y="259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00000" tIns="76200" rIns="240000" bIns="76200" anchor="ctr"/>
          <a:lstStyle/>
          <a:p>
            <a:pPr algn="l">
              <a:buNone/>
            </a:pPr>
            <a:r>
              <a:rPr lang="ko-KR" sz="1400" b="1" dirty="0">
                <a:solidFill>
                  <a:srgbClr val="1F3864"/>
                </a:solidFill>
                <a:latin typeface="Malgun Gothic"/>
                <a:ea typeface="Malgun Gothic"/>
              </a:rPr>
              <a:t>퍼블리셔 작업 위치가 정해져 있지 않습니다</a:t>
            </a: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   마크업과 CSS 파일이 프로젝트 곳곳에 흩어집니다</a:t>
            </a:r>
          </a:p>
        </p:txBody>
      </p:sp>
      <p:sp>
        <p:nvSpPr>
          <p:cNvPr id="9" name="s9"/>
          <p:cNvSpPr/>
          <p:nvPr/>
        </p:nvSpPr>
        <p:spPr>
          <a:xfrm>
            <a:off x="863600" y="2751000"/>
            <a:ext cx="508000" cy="508000"/>
          </a:xfrm>
          <a:prstGeom prst="round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46800" rIns="0" bIns="46800" anchor="ctr"/>
          <a:lstStyle/>
          <a:p>
            <a:pPr algn="ctr">
              <a:buNone/>
            </a:pP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0" name="s10"/>
          <p:cNvSpPr/>
          <p:nvPr/>
        </p:nvSpPr>
        <p:spPr>
          <a:xfrm>
            <a:off x="700000" y="353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00000" tIns="76200" rIns="240000" bIns="76200" anchor="ctr"/>
          <a:lstStyle/>
          <a:p>
            <a:pPr algn="l">
              <a:buNone/>
            </a:pPr>
            <a:r>
              <a:rPr lang="ko-KR" sz="1400" b="1" dirty="0">
                <a:solidFill>
                  <a:srgbClr val="1F3864"/>
                </a:solidFill>
                <a:latin typeface="Malgun Gothic"/>
                <a:ea typeface="Malgun Gothic"/>
              </a:rPr>
              <a:t>퍼블리셔 CSS와 Tailwind가 충돌합니다</a:t>
            </a: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   우선순위가 엉켜 스타일이 깨집니다</a:t>
            </a:r>
          </a:p>
        </p:txBody>
      </p:sp>
      <p:sp>
        <p:nvSpPr>
          <p:cNvPr id="11" name="s11"/>
          <p:cNvSpPr/>
          <p:nvPr/>
        </p:nvSpPr>
        <p:spPr>
          <a:xfrm>
            <a:off x="863600" y="3691000"/>
            <a:ext cx="508000" cy="508000"/>
          </a:xfrm>
          <a:prstGeom prst="round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46800" rIns="0" bIns="46800" anchor="ctr"/>
          <a:lstStyle/>
          <a:p>
            <a:pPr algn="ctr">
              <a:buNone/>
            </a:pP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2" name="s12"/>
          <p:cNvSpPr/>
          <p:nvPr/>
        </p:nvSpPr>
        <p:spPr>
          <a:xfrm>
            <a:off x="700000" y="447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00000" tIns="76200" rIns="240000" bIns="76200" anchor="ctr"/>
          <a:lstStyle/>
          <a:p>
            <a:pPr algn="l">
              <a:buNone/>
            </a:pPr>
            <a:r>
              <a:rPr lang="ko-KR" sz="1400" b="1" dirty="0">
                <a:solidFill>
                  <a:srgbClr val="1F3864"/>
                </a:solidFill>
                <a:latin typeface="Malgun Gothic"/>
                <a:ea typeface="Malgun Gothic"/>
              </a:rPr>
              <a:t>shadcn 컴포넌트를 어디서 고칠지 모릅니다</a:t>
            </a: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   프로젝트 디자인과 다를 때 override 기준이 없습니다</a:t>
            </a:r>
          </a:p>
        </p:txBody>
      </p:sp>
      <p:sp>
        <p:nvSpPr>
          <p:cNvPr id="13" name="s13"/>
          <p:cNvSpPr/>
          <p:nvPr/>
        </p:nvSpPr>
        <p:spPr>
          <a:xfrm>
            <a:off x="863600" y="4631000"/>
            <a:ext cx="508000" cy="508000"/>
          </a:xfrm>
          <a:prstGeom prst="round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46800" rIns="0" bIns="46800" anchor="ctr"/>
          <a:lstStyle/>
          <a:p>
            <a:pPr algn="ctr">
              <a:buNone/>
            </a:pP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14" name="s14"/>
          <p:cNvSpPr/>
          <p:nvPr/>
        </p:nvSpPr>
        <p:spPr>
          <a:xfrm>
            <a:off x="700000" y="541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00000" tIns="76200" rIns="240000" bIns="76200" anchor="ctr"/>
          <a:lstStyle/>
          <a:p>
            <a:pPr algn="l">
              <a:buNone/>
            </a:pPr>
            <a:r>
              <a:rPr lang="ko-KR" sz="1400" b="1" dirty="0">
                <a:solidFill>
                  <a:srgbClr val="1F3864"/>
                </a:solidFill>
                <a:latin typeface="Malgun Gothic"/>
                <a:ea typeface="Malgun Gothic"/>
              </a:rPr>
              <a:t>프로젝트 간 재사용이 되지 않습니다</a:t>
            </a: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   A 프로젝트에서 개선한 것이 B 프로젝트에 전혀 반영되지 않습니다</a:t>
            </a:r>
          </a:p>
        </p:txBody>
      </p:sp>
      <p:sp>
        <p:nvSpPr>
          <p:cNvPr id="15" name="s15"/>
          <p:cNvSpPr/>
          <p:nvPr/>
        </p:nvSpPr>
        <p:spPr>
          <a:xfrm>
            <a:off x="863600" y="5571000"/>
            <a:ext cx="508000" cy="508000"/>
          </a:xfrm>
          <a:prstGeom prst="round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46800" rIns="0" bIns="46800" anchor="ctr"/>
          <a:lstStyle/>
          <a:p>
            <a:pPr algn="ctr">
              <a:buNone/>
            </a:pP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16" name="s16"/>
          <p:cNvSpPr/>
          <p:nvPr/>
        </p:nvSpPr>
        <p:spPr>
          <a:xfrm>
            <a:off x="7900000" y="6470000"/>
            <a:ext cx="3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React App Scaffold 저작권 상담 자료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해결의 열쇠 — 규칙을 문서가 아니라 폴더로 못 박았습니다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“이건 어디에 두나요?”라는 질문 자체가 나오지 않도록 만들었습니다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5296000" cy="30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240000" tIns="76200" rIns="143000" bIns="76200" anchor="ctr"/>
          <a:lstStyle/>
          <a:p>
            <a:pPr algn="l">
              <a:buNone/>
            </a:pP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스캐폴드가 주는 것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150" b="1" dirty="0">
                <a:solidFill>
                  <a:srgbClr val="C55A11"/>
                </a:solidFill>
                <a:latin typeface="Malgun Gothic"/>
                <a:ea typeface="Malgun Gothic"/>
              </a:rPr>
              <a:t>“어디에 무엇을 두는가”에 대한 확정된 답</a:t>
            </a:r>
          </a:p>
          <a:p>
            <a:pPr algn="l">
              <a:spcBef>
                <a:spcPts val="500"/>
              </a:spcBef>
              <a:buNone/>
            </a:pP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·   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도메인 단위로 고정된 폴더 구조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·   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pages / components 분리 등 작성 규칙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·   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토큰 JSON → CSS · 타입 자동 생성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·   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퍼블리싱 → 컴포넌트화 작업 흐름</a:t>
            </a:r>
          </a:p>
        </p:txBody>
      </p:sp>
      <p:sp>
        <p:nvSpPr>
          <p:cNvPr id="7" name="s7"/>
          <p:cNvSpPr/>
          <p:nvPr/>
        </p:nvSpPr>
        <p:spPr>
          <a:xfrm>
            <a:off x="6196000" y="1650000"/>
            <a:ext cx="5296000" cy="305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240000" tIns="76200" rIns="143000" bIns="76200" anchor="ctr"/>
          <a:lstStyle/>
          <a:p>
            <a:pPr algn="l">
              <a:buNone/>
            </a:pPr>
            <a:r>
              <a:rPr lang="ko-KR" sz="1600" b="1" dirty="0">
                <a:solidFill>
                  <a:srgbClr val="FFFFFF"/>
                </a:solidFill>
                <a:latin typeface="Malgun Gothic"/>
                <a:ea typeface="Malgun Gothic"/>
              </a:rPr>
              <a:t>프로젝트가 하는 일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150" b="1" dirty="0">
                <a:solidFill>
                  <a:srgbClr val="F4B183"/>
                </a:solidFill>
                <a:latin typeface="Malgun Gothic"/>
                <a:ea typeface="Malgun Gothic"/>
              </a:rPr>
              <a:t>정해진 자리에 자기 것만 채워 넣습니다</a:t>
            </a:r>
          </a:p>
          <a:p>
            <a:pPr algn="l">
              <a:spcBef>
                <a:spcPts val="500"/>
              </a:spcBef>
              <a:buNone/>
            </a:pPr>
            <a:r>
              <a:rPr lang="ko-KR" sz="1300" b="1" dirty="0">
                <a:solidFill>
                  <a:srgbClr val="8FAADC"/>
                </a:solidFill>
                <a:latin typeface="Malgun Gothic"/>
                <a:ea typeface="Malgun Gothic"/>
              </a:rPr>
              <a:t>·   </a:t>
            </a:r>
            <a:r>
              <a:rPr lang="ko-KR" sz="1300" dirty="0">
                <a:solidFill>
                  <a:srgbClr val="D9E2F3"/>
                </a:solidFill>
                <a:latin typeface="Malgun Gothic"/>
                <a:ea typeface="Malgun Gothic"/>
              </a:rPr>
              <a:t>theme-[project].css 한 개만 새로 만든다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300" b="1" dirty="0">
                <a:solidFill>
                  <a:srgbClr val="8FAADC"/>
                </a:solidFill>
                <a:latin typeface="Malgun Gothic"/>
                <a:ea typeface="Malgun Gothic"/>
              </a:rPr>
              <a:t>·   </a:t>
            </a:r>
            <a:r>
              <a:rPr lang="ko-KR" sz="1300" dirty="0">
                <a:solidFill>
                  <a:srgbClr val="D9E2F3"/>
                </a:solidFill>
                <a:latin typeface="Malgun Gothic"/>
                <a:ea typeface="Malgun Gothic"/>
              </a:rPr>
              <a:t>publishing/ 안에서만 시안 작업한다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300" b="1" dirty="0">
                <a:solidFill>
                  <a:srgbClr val="8FAADC"/>
                </a:solidFill>
                <a:latin typeface="Malgun Gothic"/>
                <a:ea typeface="Malgun Gothic"/>
              </a:rPr>
              <a:t>·   </a:t>
            </a:r>
            <a:r>
              <a:rPr lang="ko-KR" sz="1300" dirty="0">
                <a:solidFill>
                  <a:srgbClr val="D9E2F3"/>
                </a:solidFill>
                <a:latin typeface="Malgun Gothic"/>
                <a:ea typeface="Malgun Gothic"/>
              </a:rPr>
              <a:t>domains/ 에서 공통 부품을 조립한다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300" b="1" dirty="0">
                <a:solidFill>
                  <a:srgbClr val="8FAADC"/>
                </a:solidFill>
                <a:latin typeface="Malgun Gothic"/>
                <a:ea typeface="Malgun Gothic"/>
              </a:rPr>
              <a:t>·   </a:t>
            </a:r>
            <a:r>
              <a:rPr lang="ko-KR" sz="1300" dirty="0">
                <a:solidFill>
                  <a:srgbClr val="D9E2F3"/>
                </a:solidFill>
                <a:latin typeface="Malgun Gothic"/>
                <a:ea typeface="Malgun Gothic"/>
              </a:rPr>
              <a:t>개선한 것은 스캐폴드로 되돌려 보낸다</a:t>
            </a:r>
          </a:p>
        </p:txBody>
      </p:sp>
      <p:sp>
        <p:nvSpPr>
          <p:cNvPr id="8" name="s8"/>
          <p:cNvSpPr/>
          <p:nvPr/>
        </p:nvSpPr>
        <p:spPr>
          <a:xfrm>
            <a:off x="700000" y="5000000"/>
            <a:ext cx="10792000" cy="9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300000" tIns="76200" rIns="300000" bIns="76200" anchor="ctr"/>
          <a:lstStyle/>
          <a:p>
            <a:pPr algn="l">
              <a:buNone/>
            </a:pPr>
            <a:r>
              <a:rPr lang="ko-KR" sz="1300" b="1" dirty="0">
                <a:solidFill>
                  <a:srgbClr val="F4B183"/>
                </a:solidFill>
                <a:latin typeface="Malgun Gothic"/>
                <a:ea typeface="Malgun Gothic"/>
              </a:rPr>
              <a:t>관통하는 원리   </a:t>
            </a: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“규칙을 문서로 설명하지 않고, 그 규칙대로만 동작하는 코드를 미리 놓아 둔다”</a:t>
            </a:r>
          </a:p>
        </p:txBody>
      </p:sp>
      <p:sp>
        <p:nvSpPr>
          <p:cNvPr id="9" name="s9"/>
          <p:cNvSpPr/>
          <p:nvPr/>
        </p:nvSpPr>
        <p:spPr>
          <a:xfrm>
            <a:off x="7900000" y="6470000"/>
            <a:ext cx="3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React App Scaffold 저작권 상담 자료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05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무엇이 들어 있나 — 규모와 구성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널리 쓰이는 오픈소스 위에, </a:t>
            </a:r>
            <a:r>
              <a:rPr lang="ko-KR" sz="1400" b="1" dirty="0">
                <a:solidFill>
                  <a:srgbClr val="C55A11"/>
                </a:solidFill>
                <a:latin typeface="Malgun Gothic"/>
                <a:ea typeface="Malgun Gothic"/>
              </a:rPr>
              <a:t>저희가 직접 작성한 코드</a:t>
            </a: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를 얹은 형태입니다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2500000" cy="12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000" tIns="76200" rIns="120000" bIns="76200" anchor="ctr"/>
          <a:lstStyle/>
          <a:p>
            <a:pPr algn="ctr">
              <a:buNone/>
            </a:pPr>
            <a:r>
              <a:rPr lang="ko-KR" sz="2400" b="1" dirty="0">
                <a:solidFill>
                  <a:srgbClr val="C55A11"/>
                </a:solidFill>
                <a:latin typeface="Malgun Gothic"/>
                <a:ea typeface="Malgun Gothic"/>
              </a:rPr>
              <a:t>165</a:t>
            </a:r>
          </a:p>
          <a:p>
            <a:pPr algn="ctr">
              <a:spcBef>
                <a:spcPts val="300"/>
              </a:spcBef>
              <a:buNone/>
            </a:pPr>
            <a:r>
              <a:rPr lang="ko-KR" sz="1100" dirty="0">
                <a:solidFill>
                  <a:srgbClr val="595959"/>
                </a:solidFill>
                <a:latin typeface="Malgun Gothic"/>
                <a:ea typeface="Malgun Gothic"/>
              </a:rPr>
              <a:t>TypeScript / TSX 파일</a:t>
            </a:r>
          </a:p>
        </p:txBody>
      </p:sp>
      <p:sp>
        <p:nvSpPr>
          <p:cNvPr id="7" name="s7"/>
          <p:cNvSpPr/>
          <p:nvPr/>
        </p:nvSpPr>
        <p:spPr>
          <a:xfrm>
            <a:off x="3464000" y="1650000"/>
            <a:ext cx="2500000" cy="12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000" tIns="76200" rIns="120000" bIns="76200" anchor="ctr"/>
          <a:lstStyle/>
          <a:p>
            <a:pPr algn="ctr">
              <a:buNone/>
            </a:pPr>
            <a:r>
              <a:rPr lang="ko-KR" sz="2400" b="1" dirty="0">
                <a:solidFill>
                  <a:srgbClr val="C55A11"/>
                </a:solidFill>
                <a:latin typeface="Malgun Gothic"/>
                <a:ea typeface="Malgun Gothic"/>
              </a:rPr>
              <a:t>18,131</a:t>
            </a:r>
          </a:p>
          <a:p>
            <a:pPr algn="ctr">
              <a:spcBef>
                <a:spcPts val="300"/>
              </a:spcBef>
              <a:buNone/>
            </a:pPr>
            <a:r>
              <a:rPr lang="ko-KR" sz="1100" dirty="0">
                <a:solidFill>
                  <a:srgbClr val="595959"/>
                </a:solidFill>
                <a:latin typeface="Malgun Gothic"/>
                <a:ea typeface="Malgun Gothic"/>
              </a:rPr>
              <a:t>직접 작성한 코드 줄 수</a:t>
            </a:r>
          </a:p>
        </p:txBody>
      </p:sp>
      <p:sp>
        <p:nvSpPr>
          <p:cNvPr id="8" name="s8"/>
          <p:cNvSpPr/>
          <p:nvPr/>
        </p:nvSpPr>
        <p:spPr>
          <a:xfrm>
            <a:off x="6228000" y="1650000"/>
            <a:ext cx="2500000" cy="12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000" tIns="76200" rIns="120000" bIns="76200" anchor="ctr"/>
          <a:lstStyle/>
          <a:p>
            <a:pPr algn="ctr">
              <a:buNone/>
            </a:pPr>
            <a:r>
              <a:rPr lang="ko-KR" sz="2400" b="1" dirty="0">
                <a:solidFill>
                  <a:srgbClr val="C55A11"/>
                </a:solidFill>
                <a:latin typeface="Malgun Gothic"/>
                <a:ea typeface="Malgun Gothic"/>
              </a:rPr>
              <a:t>137</a:t>
            </a:r>
          </a:p>
          <a:p>
            <a:pPr algn="ctr">
              <a:spcBef>
                <a:spcPts val="300"/>
              </a:spcBef>
              <a:buNone/>
            </a:pPr>
            <a:r>
              <a:rPr lang="ko-KR" sz="1100" dirty="0">
                <a:solidFill>
                  <a:srgbClr val="595959"/>
                </a:solidFill>
                <a:latin typeface="Malgun Gothic"/>
                <a:ea typeface="Malgun Gothic"/>
              </a:rPr>
              <a:t>커밋 (창작 과정 기록)</a:t>
            </a:r>
          </a:p>
        </p:txBody>
      </p:sp>
      <p:sp>
        <p:nvSpPr>
          <p:cNvPr id="9" name="s9"/>
          <p:cNvSpPr/>
          <p:nvPr/>
        </p:nvSpPr>
        <p:spPr>
          <a:xfrm>
            <a:off x="8992000" y="1650000"/>
            <a:ext cx="2500000" cy="12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000" tIns="76200" rIns="120000" bIns="76200" anchor="ctr"/>
          <a:lstStyle/>
          <a:p>
            <a:pPr algn="ctr">
              <a:buNone/>
            </a:pPr>
            <a:r>
              <a:rPr lang="ko-KR" sz="2400" b="1" dirty="0">
                <a:solidFill>
                  <a:srgbClr val="C55A11"/>
                </a:solidFill>
                <a:latin typeface="Malgun Gothic"/>
                <a:ea typeface="Malgun Gothic"/>
              </a:rPr>
              <a:t>2026. 04</a:t>
            </a:r>
          </a:p>
          <a:p>
            <a:pPr algn="ctr">
              <a:spcBef>
                <a:spcPts val="300"/>
              </a:spcBef>
              <a:buNone/>
            </a:pPr>
            <a:r>
              <a:rPr lang="ko-KR" sz="1100" dirty="0">
                <a:solidFill>
                  <a:srgbClr val="595959"/>
                </a:solidFill>
                <a:latin typeface="Malgun Gothic"/>
                <a:ea typeface="Malgun Gothic"/>
              </a:rPr>
              <a:t>최초 커밋 — 현재까지</a:t>
            </a:r>
          </a:p>
        </p:txBody>
      </p:sp>
      <p:sp>
        <p:nvSpPr>
          <p:cNvPr id="10" name="s10"/>
          <p:cNvSpPr/>
          <p:nvPr/>
        </p:nvSpPr>
        <p:spPr>
          <a:xfrm>
            <a:off x="700000" y="3100000"/>
            <a:ext cx="2500000" cy="5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FFFFFF"/>
                </a:solidFill>
                <a:latin typeface="Malgun Gothic"/>
                <a:ea typeface="Malgun Gothic"/>
              </a:rPr>
              <a:t>영역</a:t>
            </a:r>
          </a:p>
        </p:txBody>
      </p:sp>
      <p:sp>
        <p:nvSpPr>
          <p:cNvPr id="11" name="s11"/>
          <p:cNvSpPr/>
          <p:nvPr/>
        </p:nvSpPr>
        <p:spPr>
          <a:xfrm>
            <a:off x="3200000" y="3100000"/>
            <a:ext cx="8292000" cy="5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FFFFFF"/>
                </a:solidFill>
                <a:latin typeface="Malgun Gothic"/>
                <a:ea typeface="Malgun Gothic"/>
              </a:rPr>
              <a:t>기본 탑재 스택</a:t>
            </a:r>
          </a:p>
        </p:txBody>
      </p:sp>
      <p:sp>
        <p:nvSpPr>
          <p:cNvPr id="12" name="s12"/>
          <p:cNvSpPr/>
          <p:nvPr/>
        </p:nvSpPr>
        <p:spPr>
          <a:xfrm>
            <a:off x="700000" y="3620000"/>
            <a:ext cx="2500000" cy="52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50" b="1" dirty="0">
                <a:solidFill>
                  <a:srgbClr val="1F3864"/>
                </a:solidFill>
                <a:latin typeface="Malgun Gothic"/>
                <a:ea typeface="Malgun Gothic"/>
              </a:rPr>
              <a:t>Core</a:t>
            </a:r>
          </a:p>
        </p:txBody>
      </p:sp>
      <p:sp>
        <p:nvSpPr>
          <p:cNvPr id="13" name="s13"/>
          <p:cNvSpPr/>
          <p:nvPr/>
        </p:nvSpPr>
        <p:spPr>
          <a:xfrm>
            <a:off x="3200000" y="3620000"/>
            <a:ext cx="8292000" cy="5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React 19 · TypeScript · Vite 8</a:t>
            </a:r>
          </a:p>
        </p:txBody>
      </p:sp>
      <p:sp>
        <p:nvSpPr>
          <p:cNvPr id="14" name="s14"/>
          <p:cNvSpPr/>
          <p:nvPr/>
        </p:nvSpPr>
        <p:spPr>
          <a:xfrm>
            <a:off x="700000" y="4140000"/>
            <a:ext cx="2500000" cy="52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50" b="1" dirty="0">
                <a:solidFill>
                  <a:srgbClr val="1F3864"/>
                </a:solidFill>
                <a:latin typeface="Malgun Gothic"/>
                <a:ea typeface="Malgun Gothic"/>
              </a:rPr>
              <a:t>스타일</a:t>
            </a:r>
          </a:p>
        </p:txBody>
      </p:sp>
      <p:sp>
        <p:nvSpPr>
          <p:cNvPr id="15" name="s15"/>
          <p:cNvSpPr/>
          <p:nvPr/>
        </p:nvSpPr>
        <p:spPr>
          <a:xfrm>
            <a:off x="3200000" y="4140000"/>
            <a:ext cx="8292000" cy="5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Tailwind CSS v4 · Style Dictionary 디자인 토큰 · 다크모드</a:t>
            </a:r>
          </a:p>
        </p:txBody>
      </p:sp>
      <p:sp>
        <p:nvSpPr>
          <p:cNvPr id="16" name="s16"/>
          <p:cNvSpPr/>
          <p:nvPr/>
        </p:nvSpPr>
        <p:spPr>
          <a:xfrm>
            <a:off x="700000" y="4660000"/>
            <a:ext cx="2500000" cy="52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50" b="1" dirty="0">
                <a:solidFill>
                  <a:srgbClr val="1F3864"/>
                </a:solidFill>
                <a:latin typeface="Malgun Gothic"/>
                <a:ea typeface="Malgun Gothic"/>
              </a:rPr>
              <a:t>UI</a:t>
            </a:r>
          </a:p>
        </p:txBody>
      </p:sp>
      <p:sp>
        <p:nvSpPr>
          <p:cNvPr id="17" name="s17"/>
          <p:cNvSpPr/>
          <p:nvPr/>
        </p:nvSpPr>
        <p:spPr>
          <a:xfrm>
            <a:off x="3200000" y="4660000"/>
            <a:ext cx="8292000" cy="5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shadcn/ui · Radix UI / Base UI · lucide-react</a:t>
            </a:r>
          </a:p>
        </p:txBody>
      </p:sp>
      <p:sp>
        <p:nvSpPr>
          <p:cNvPr id="18" name="s18"/>
          <p:cNvSpPr/>
          <p:nvPr/>
        </p:nvSpPr>
        <p:spPr>
          <a:xfrm>
            <a:off x="700000" y="5180000"/>
            <a:ext cx="2500000" cy="52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50" b="1" dirty="0">
                <a:solidFill>
                  <a:srgbClr val="1F3864"/>
                </a:solidFill>
                <a:latin typeface="Malgun Gothic"/>
                <a:ea typeface="Malgun Gothic"/>
              </a:rPr>
              <a:t>상태 · 데이터</a:t>
            </a:r>
          </a:p>
        </p:txBody>
      </p:sp>
      <p:sp>
        <p:nvSpPr>
          <p:cNvPr id="19" name="s19"/>
          <p:cNvSpPr/>
          <p:nvPr/>
        </p:nvSpPr>
        <p:spPr>
          <a:xfrm>
            <a:off x="3200000" y="5180000"/>
            <a:ext cx="8292000" cy="5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Zustand (자체 defineStore) · TanStack Query / Table · axios</a:t>
            </a:r>
          </a:p>
        </p:txBody>
      </p:sp>
      <p:sp>
        <p:nvSpPr>
          <p:cNvPr id="20" name="s20"/>
          <p:cNvSpPr/>
          <p:nvPr/>
        </p:nvSpPr>
        <p:spPr>
          <a:xfrm>
            <a:off x="700000" y="5700000"/>
            <a:ext cx="2500000" cy="52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50" b="1" dirty="0">
                <a:solidFill>
                  <a:srgbClr val="1F3864"/>
                </a:solidFill>
                <a:latin typeface="Malgun Gothic"/>
                <a:ea typeface="Malgun Gothic"/>
              </a:rPr>
              <a:t>품질 · 문서</a:t>
            </a:r>
          </a:p>
        </p:txBody>
      </p:sp>
      <p:sp>
        <p:nvSpPr>
          <p:cNvPr id="21" name="s21"/>
          <p:cNvSpPr/>
          <p:nvPr/>
        </p:nvSpPr>
        <p:spPr>
          <a:xfrm>
            <a:off x="3200000" y="5700000"/>
            <a:ext cx="8292000" cy="5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Vitest (브라우저 모드) · Playwright · Storybook 10 · ESLint / Prettier</a:t>
            </a:r>
          </a:p>
        </p:txBody>
      </p:sp>
      <p:sp>
        <p:nvSpPr>
          <p:cNvPr id="22" name="s22"/>
          <p:cNvSpPr/>
          <p:nvPr/>
        </p:nvSpPr>
        <p:spPr>
          <a:xfrm>
            <a:off x="7900000" y="6470000"/>
            <a:ext cx="3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React App Scaffold 저작권 상담 자료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06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실제 작업 흐름은 다섯 단계입니다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이 다섯 단계가 곧 스캐폴드의 폴더 구조 그 자체입니다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810000" y="2300000"/>
            <a:ext cx="1850000" cy="17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40000" tIns="46800" rIns="140000" bIns="46800" anchor="ctr"/>
          <a:lstStyle/>
          <a:p>
            <a:pPr algn="ctr">
              <a:buNone/>
            </a:pPr>
            <a:r>
              <a:rPr lang="ko-KR" sz="1050" b="1" dirty="0">
                <a:solidFill>
                  <a:srgbClr val="C55A11"/>
                </a:solidFill>
                <a:latin typeface="Malgun Gothic"/>
                <a:ea typeface="Malgun Gothic"/>
              </a:rPr>
              <a:t>STEP 1</a:t>
            </a:r>
          </a:p>
          <a:p>
            <a:pPr algn="ctr">
              <a:spcBef>
                <a:spcPts val="300"/>
              </a:spcBef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기획 · 디자인</a:t>
            </a:r>
          </a:p>
          <a:p>
            <a:pPr algn="ctr">
              <a:spcBef>
                <a:spcPts val="300"/>
              </a:spcBef>
              <a:buNone/>
            </a:pPr>
            <a:r>
              <a:rPr lang="ko-KR" sz="1000" dirty="0">
                <a:solidFill>
                  <a:srgbClr val="595959"/>
                </a:solidFill>
                <a:latin typeface="Malgun Gothic"/>
                <a:ea typeface="Malgun Gothic"/>
              </a:rPr>
              <a:t>Figma 토큰 → JSON 정의</a:t>
            </a:r>
          </a:p>
        </p:txBody>
      </p:sp>
      <p:sp>
        <p:nvSpPr>
          <p:cNvPr id="7" name="s7"/>
          <p:cNvSpPr/>
          <p:nvPr/>
        </p:nvSpPr>
        <p:spPr>
          <a:xfrm>
            <a:off x="2990000" y="2300000"/>
            <a:ext cx="1850000" cy="17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40000" tIns="46800" rIns="140000" bIns="46800" anchor="ctr"/>
          <a:lstStyle/>
          <a:p>
            <a:pPr algn="ctr">
              <a:buNone/>
            </a:pPr>
            <a:r>
              <a:rPr lang="ko-KR" sz="1050" b="1" dirty="0">
                <a:solidFill>
                  <a:srgbClr val="C55A11"/>
                </a:solidFill>
                <a:latin typeface="Malgun Gothic"/>
                <a:ea typeface="Malgun Gothic"/>
              </a:rPr>
              <a:t>STEP 2</a:t>
            </a:r>
          </a:p>
          <a:p>
            <a:pPr algn="ctr">
              <a:spcBef>
                <a:spcPts val="300"/>
              </a:spcBef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퍼블리싱</a:t>
            </a:r>
          </a:p>
          <a:p>
            <a:pPr algn="ctr">
              <a:spcBef>
                <a:spcPts val="300"/>
              </a:spcBef>
              <a:buNone/>
            </a:pPr>
            <a:r>
              <a:rPr lang="ko-KR" sz="1000" dirty="0">
                <a:solidFill>
                  <a:srgbClr val="595959"/>
                </a:solidFill>
                <a:latin typeface="Malgun Gothic"/>
                <a:ea typeface="Malgun Gothic"/>
              </a:rPr>
              <a:t>publishing/ 에서 시안 작업</a:t>
            </a:r>
          </a:p>
        </p:txBody>
      </p:sp>
      <p:sp>
        <p:nvSpPr>
          <p:cNvPr id="8" name="s8"/>
          <p:cNvSpPr/>
          <p:nvPr/>
        </p:nvSpPr>
        <p:spPr>
          <a:xfrm>
            <a:off x="5170000" y="2300000"/>
            <a:ext cx="1850000" cy="17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40000" tIns="46800" rIns="140000" bIns="46800" anchor="ctr"/>
          <a:lstStyle/>
          <a:p>
            <a:pPr algn="ctr">
              <a:buNone/>
            </a:pPr>
            <a:r>
              <a:rPr lang="ko-KR" sz="1050" b="1" dirty="0">
                <a:solidFill>
                  <a:srgbClr val="C55A11"/>
                </a:solidFill>
                <a:latin typeface="Malgun Gothic"/>
                <a:ea typeface="Malgun Gothic"/>
              </a:rPr>
              <a:t>STEP 3</a:t>
            </a:r>
          </a:p>
          <a:p>
            <a:pPr algn="ctr">
              <a:spcBef>
                <a:spcPts val="300"/>
              </a:spcBef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컴포넌트화</a:t>
            </a:r>
          </a:p>
          <a:p>
            <a:pPr algn="ctr">
              <a:spcBef>
                <a:spcPts val="300"/>
              </a:spcBef>
              <a:buNone/>
            </a:pPr>
            <a:r>
              <a:rPr lang="ko-KR" sz="1000" dirty="0">
                <a:solidFill>
                  <a:srgbClr val="595959"/>
                </a:solidFill>
                <a:latin typeface="Malgun Gothic"/>
                <a:ea typeface="Malgun Gothic"/>
              </a:rPr>
              <a:t>공통 컴포넌트로 승격</a:t>
            </a:r>
          </a:p>
        </p:txBody>
      </p:sp>
      <p:sp>
        <p:nvSpPr>
          <p:cNvPr id="9" name="s9"/>
          <p:cNvSpPr/>
          <p:nvPr/>
        </p:nvSpPr>
        <p:spPr>
          <a:xfrm>
            <a:off x="7350000" y="2300000"/>
            <a:ext cx="1850000" cy="17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40000" tIns="46800" rIns="140000" bIns="46800" anchor="ctr"/>
          <a:lstStyle/>
          <a:p>
            <a:pPr algn="ctr">
              <a:buNone/>
            </a:pPr>
            <a:r>
              <a:rPr lang="ko-KR" sz="1050" b="1" dirty="0">
                <a:solidFill>
                  <a:srgbClr val="C55A11"/>
                </a:solidFill>
                <a:latin typeface="Malgun Gothic"/>
                <a:ea typeface="Malgun Gothic"/>
              </a:rPr>
              <a:t>STEP 4</a:t>
            </a:r>
          </a:p>
          <a:p>
            <a:pPr algn="ctr">
              <a:spcBef>
                <a:spcPts val="300"/>
              </a:spcBef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업무 개발</a:t>
            </a:r>
          </a:p>
          <a:p>
            <a:pPr algn="ctr">
              <a:spcBef>
                <a:spcPts val="300"/>
              </a:spcBef>
              <a:buNone/>
            </a:pPr>
            <a:r>
              <a:rPr lang="ko-KR" sz="1000" dirty="0">
                <a:solidFill>
                  <a:srgbClr val="595959"/>
                </a:solidFill>
                <a:latin typeface="Malgun Gothic"/>
                <a:ea typeface="Malgun Gothic"/>
              </a:rPr>
              <a:t>domains/ 에서 조립</a:t>
            </a:r>
          </a:p>
        </p:txBody>
      </p:sp>
      <p:sp>
        <p:nvSpPr>
          <p:cNvPr id="10" name="s10"/>
          <p:cNvSpPr/>
          <p:nvPr/>
        </p:nvSpPr>
        <p:spPr>
          <a:xfrm>
            <a:off x="9530000" y="2300000"/>
            <a:ext cx="1850000" cy="1700000"/>
          </a:xfrm>
          <a:prstGeom prst="roundRect">
            <a:avLst/>
          </a:prstGeom>
          <a:solidFill>
            <a:srgbClr val="C55A11"/>
          </a:solidFill>
          <a:ln>
            <a:noFill/>
          </a:ln>
        </p:spPr>
        <p:txBody>
          <a:bodyPr wrap="square" lIns="140000" tIns="46800" rIns="140000" bIns="46800" anchor="ctr"/>
          <a:lstStyle/>
          <a:p>
            <a:pPr algn="ctr">
              <a:buNone/>
            </a:pPr>
            <a:r>
              <a:rPr lang="ko-KR" sz="1050" b="1" dirty="0">
                <a:solidFill>
                  <a:srgbClr val="FFFFFF"/>
                </a:solidFill>
                <a:latin typeface="Malgun Gothic"/>
                <a:ea typeface="Malgun Gothic"/>
              </a:rPr>
              <a:t>STEP 5</a:t>
            </a:r>
          </a:p>
          <a:p>
            <a:pPr algn="ctr">
              <a:spcBef>
                <a:spcPts val="300"/>
              </a:spcBef>
              <a:buNone/>
            </a:pPr>
            <a:r>
              <a:rPr lang="ko-KR" sz="1450" b="1" dirty="0">
                <a:solidFill>
                  <a:srgbClr val="FFFFFF"/>
                </a:solidFill>
                <a:latin typeface="Malgun Gothic"/>
                <a:ea typeface="Malgun Gothic"/>
              </a:rPr>
              <a:t>역반영</a:t>
            </a:r>
          </a:p>
          <a:p>
            <a:pPr algn="ctr">
              <a:spcBef>
                <a:spcPts val="300"/>
              </a:spcBef>
              <a:buNone/>
            </a:pPr>
            <a:r>
              <a:rPr lang="ko-KR" sz="1000" dirty="0">
                <a:solidFill>
                  <a:srgbClr val="FBE5D6"/>
                </a:solidFill>
                <a:latin typeface="Malgun Gothic"/>
                <a:ea typeface="Malgun Gothic"/>
              </a:rPr>
              <a:t>개선분을 스캐폴드로 PR</a:t>
            </a:r>
          </a:p>
        </p:txBody>
      </p:sp>
      <p:sp>
        <p:nvSpPr>
          <p:cNvPr id="11" name="s11"/>
          <p:cNvSpPr/>
          <p:nvPr/>
        </p:nvSpPr>
        <p:spPr>
          <a:xfrm>
            <a:off x="2660000" y="2300000"/>
            <a:ext cx="330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2" name="s12"/>
          <p:cNvSpPr/>
          <p:nvPr/>
        </p:nvSpPr>
        <p:spPr>
          <a:xfrm>
            <a:off x="4840000" y="2300000"/>
            <a:ext cx="330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3" name="s13"/>
          <p:cNvSpPr/>
          <p:nvPr/>
        </p:nvSpPr>
        <p:spPr>
          <a:xfrm>
            <a:off x="7020000" y="2300000"/>
            <a:ext cx="330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4" name="s14"/>
          <p:cNvSpPr/>
          <p:nvPr/>
        </p:nvSpPr>
        <p:spPr>
          <a:xfrm>
            <a:off x="9200000" y="2300000"/>
            <a:ext cx="330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5" name="s15"/>
          <p:cNvSpPr/>
          <p:nvPr/>
        </p:nvSpPr>
        <p:spPr>
          <a:xfrm>
            <a:off x="700000" y="4600000"/>
            <a:ext cx="10792000" cy="11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240000" tIns="76200" rIns="143000" bIns="76200" anchor="ctr"/>
          <a:lstStyle/>
          <a:p>
            <a:pPr algn="l">
              <a:buNone/>
            </a:pPr>
            <a:r>
              <a:rPr lang="ko-KR" sz="1400" b="1" dirty="0">
                <a:solidFill>
                  <a:srgbClr val="C55A11"/>
                </a:solidFill>
                <a:latin typeface="Malgun Gothic"/>
                <a:ea typeface="Malgun Gothic"/>
              </a:rPr>
              <a:t>중요한 점   </a:t>
            </a:r>
            <a:r>
              <a:rPr lang="ko-KR" sz="1500" b="1" dirty="0">
                <a:solidFill>
                  <a:srgbClr val="1F3864"/>
                </a:solidFill>
                <a:latin typeface="Malgun Gothic"/>
                <a:ea typeface="Malgun Gothic"/>
              </a:rPr>
              <a:t>각 단계의 산출물이 놓일 자리가 이미 정해져 있습니다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마지막 5단계(역반영)가 있어, 한 프로젝트의 개선이 다음 프로젝트로 이어집니다 — 스캐폴드는 한 번 쓰고 버리는 템플릿이 아닙니다</a:t>
            </a:r>
          </a:p>
        </p:txBody>
      </p:sp>
      <p:sp>
        <p:nvSpPr>
          <p:cNvPr id="16" name="s16"/>
          <p:cNvSpPr/>
          <p:nvPr/>
        </p:nvSpPr>
        <p:spPr>
          <a:xfrm>
            <a:off x="7900000" y="6470000"/>
            <a:ext cx="3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React App Scaffold 저작권 상담 자료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07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저희가 직접 작성한 부분은 네 가지입니다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가져다 쓴 코드와 창작한 코드를 미리 구분해 두었습니다 — </a:t>
            </a:r>
            <a:r>
              <a:rPr lang="ko-KR" sz="1400" b="1" dirty="0">
                <a:solidFill>
                  <a:srgbClr val="C55A11"/>
                </a:solidFill>
                <a:latin typeface="Malgun Gothic"/>
                <a:ea typeface="Malgun Gothic"/>
              </a:rPr>
              <a:t>등록 범위 판단의 출발점입니다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102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00000" tIns="76200" rIns="240000" bIns="76200" anchor="ctr"/>
          <a:lstStyle/>
          <a:p>
            <a:pPr algn="l"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defineStore — Zustand 스토어 선언 팩토리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state와 actions만 적으면 immer · persist · devtools를 자동 조립하고, 액션의 첫 인자로 상태를 주입합니다</a:t>
            </a:r>
          </a:p>
        </p:txBody>
      </p:sp>
      <p:sp>
        <p:nvSpPr>
          <p:cNvPr id="7" name="s7"/>
          <p:cNvSpPr/>
          <p:nvPr/>
        </p:nvSpPr>
        <p:spPr>
          <a:xfrm>
            <a:off x="863600" y="1906000"/>
            <a:ext cx="508000" cy="508000"/>
          </a:xfrm>
          <a:prstGeom prst="roundRect">
            <a:avLst/>
          </a:prstGeom>
          <a:solidFill>
            <a:srgbClr val="2E5395"/>
          </a:solidFill>
          <a:ln>
            <a:noFill/>
          </a:ln>
        </p:spPr>
        <p:txBody>
          <a:bodyPr wrap="square" lIns="0" tIns="46800" rIns="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FFFFFF"/>
                </a:solidFill>
                <a:latin typeface="Malgun Gothic"/>
                <a:ea typeface="Malgun Gothic"/>
              </a:rPr>
              <a:t>A</a:t>
            </a:r>
          </a:p>
        </p:txBody>
      </p:sp>
      <p:sp>
        <p:nvSpPr>
          <p:cNvPr id="8" name="s8"/>
          <p:cNvSpPr/>
          <p:nvPr/>
        </p:nvSpPr>
        <p:spPr>
          <a:xfrm>
            <a:off x="700000" y="2800000"/>
            <a:ext cx="10792000" cy="102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00000" tIns="76200" rIns="240000" bIns="76200" anchor="ctr"/>
          <a:lstStyle/>
          <a:p>
            <a:pPr algn="l"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SmartTable — 선언형 데이터 테이블 (21개 파일)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컬럼 스펙 한 벌에서 헤더 병합 · 집계 · 셀 포맷 · 엑셀 내보내기를 모두 파생시킵니다</a:t>
            </a:r>
          </a:p>
        </p:txBody>
      </p:sp>
      <p:sp>
        <p:nvSpPr>
          <p:cNvPr id="9" name="s9"/>
          <p:cNvSpPr/>
          <p:nvPr/>
        </p:nvSpPr>
        <p:spPr>
          <a:xfrm>
            <a:off x="863600" y="3056000"/>
            <a:ext cx="508000" cy="508000"/>
          </a:xfrm>
          <a:prstGeom prst="roundRect">
            <a:avLst/>
          </a:prstGeom>
          <a:solidFill>
            <a:srgbClr val="2E5395"/>
          </a:solidFill>
          <a:ln>
            <a:noFill/>
          </a:ln>
        </p:spPr>
        <p:txBody>
          <a:bodyPr wrap="square" lIns="0" tIns="46800" rIns="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FFFFFF"/>
                </a:solidFill>
                <a:latin typeface="Malgun Gothic"/>
                <a:ea typeface="Malgun Gothic"/>
              </a:rPr>
              <a:t>B</a:t>
            </a:r>
          </a:p>
        </p:txBody>
      </p:sp>
      <p:sp>
        <p:nvSpPr>
          <p:cNvPr id="10" name="s10"/>
          <p:cNvSpPr/>
          <p:nvPr/>
        </p:nvSpPr>
        <p:spPr>
          <a:xfrm>
            <a:off x="700000" y="3950000"/>
            <a:ext cx="10792000" cy="102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00000" tIns="76200" rIns="240000" bIns="76200" anchor="ctr"/>
          <a:lstStyle/>
          <a:p>
            <a:pPr algn="l"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디자인 토큰 2계층 파이프라인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primitive → semantic JSON에서 CSS와 TypeScript 타입을 자동 생성합니다. CSS를 손으로 고치지 않습니다</a:t>
            </a:r>
          </a:p>
        </p:txBody>
      </p:sp>
      <p:sp>
        <p:nvSpPr>
          <p:cNvPr id="11" name="s11"/>
          <p:cNvSpPr/>
          <p:nvPr/>
        </p:nvSpPr>
        <p:spPr>
          <a:xfrm>
            <a:off x="863600" y="4206000"/>
            <a:ext cx="508000" cy="508000"/>
          </a:xfrm>
          <a:prstGeom prst="roundRect">
            <a:avLst/>
          </a:prstGeom>
          <a:solidFill>
            <a:srgbClr val="2E5395"/>
          </a:solidFill>
          <a:ln>
            <a:noFill/>
          </a:ln>
        </p:spPr>
        <p:txBody>
          <a:bodyPr wrap="square" lIns="0" tIns="46800" rIns="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FFFFFF"/>
                </a:solidFill>
                <a:latin typeface="Malgun Gothic"/>
                <a:ea typeface="Malgun Gothic"/>
              </a:rPr>
              <a:t>C</a:t>
            </a:r>
          </a:p>
        </p:txBody>
      </p:sp>
      <p:sp>
        <p:nvSpPr>
          <p:cNvPr id="12" name="s12"/>
          <p:cNvSpPr/>
          <p:nvPr/>
        </p:nvSpPr>
        <p:spPr>
          <a:xfrm>
            <a:off x="700000" y="5100000"/>
            <a:ext cx="10792000" cy="102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00000" tIns="76200" rIns="240000" bIns="76200" anchor="ctr"/>
          <a:lstStyle/>
          <a:p>
            <a:pPr algn="l"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publishing 브릿지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퍼블리셔의 HTML 시안이 React 컴포넌트로 승격되는 전용 스테이징 공간입니다</a:t>
            </a:r>
          </a:p>
        </p:txBody>
      </p:sp>
      <p:sp>
        <p:nvSpPr>
          <p:cNvPr id="13" name="s13"/>
          <p:cNvSpPr/>
          <p:nvPr/>
        </p:nvSpPr>
        <p:spPr>
          <a:xfrm>
            <a:off x="863600" y="5356000"/>
            <a:ext cx="508000" cy="508000"/>
          </a:xfrm>
          <a:prstGeom prst="roundRect">
            <a:avLst/>
          </a:prstGeom>
          <a:solidFill>
            <a:srgbClr val="2E5395"/>
          </a:solidFill>
          <a:ln>
            <a:noFill/>
          </a:ln>
        </p:spPr>
        <p:txBody>
          <a:bodyPr wrap="square" lIns="0" tIns="46800" rIns="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FFFFFF"/>
                </a:solidFill>
                <a:latin typeface="Malgun Gothic"/>
                <a:ea typeface="Malgun Gothic"/>
              </a:rPr>
              <a:t>D</a:t>
            </a:r>
          </a:p>
        </p:txBody>
      </p:sp>
      <p:sp>
        <p:nvSpPr>
          <p:cNvPr id="14" name="s14"/>
          <p:cNvSpPr/>
          <p:nvPr/>
        </p:nvSpPr>
        <p:spPr>
          <a:xfrm>
            <a:off x="7900000" y="6470000"/>
            <a:ext cx="3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React App Scaffold 저작권 상담 자료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08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특허는 어렵겠다고 스스로 판단했습니다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여쭙기 전에, </a:t>
            </a:r>
            <a:r>
              <a:rPr lang="ko-KR" sz="1400" b="1" dirty="0">
                <a:solidFill>
                  <a:srgbClr val="C55A11"/>
                </a:solidFill>
                <a:latin typeface="Malgun Gothic"/>
                <a:ea typeface="Malgun Gothic"/>
              </a:rPr>
              <a:t>저희가 왜 그렇게 보는지</a:t>
            </a: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 먼저 말씀드립니다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11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79500" tIns="76200" rIns="143000" bIns="76200" anchor="ctr"/>
          <a:lstStyle/>
          <a:p>
            <a:pPr algn="l">
              <a:buNone/>
            </a:pPr>
            <a:r>
              <a:rPr lang="ko-KR" sz="1500" b="1" dirty="0">
                <a:solidFill>
                  <a:srgbClr val="C55A11"/>
                </a:solidFill>
                <a:latin typeface="Malgun Gothic"/>
                <a:ea typeface="Malgun Gothic"/>
              </a:rPr>
              <a:t>근거 1   </a:t>
            </a: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구성요소가 모두 공지기술입니다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React · Vite · Tailwind · Zustand · TanStack · Style Dictionary — 전부 공개된 오픈소스이고, 그 조합 역시 업계에서 널리 쓰이는 표준 구성입니다</a:t>
            </a:r>
          </a:p>
        </p:txBody>
      </p:sp>
      <p:sp>
        <p:nvSpPr>
          <p:cNvPr id="7" name="s7"/>
          <p:cNvSpPr/>
          <p:nvPr/>
        </p:nvSpPr>
        <p:spPr>
          <a:xfrm>
            <a:off x="700000" y="2930000"/>
            <a:ext cx="10792000" cy="11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79500" tIns="76200" rIns="143000" bIns="76200" anchor="ctr"/>
          <a:lstStyle/>
          <a:p>
            <a:pPr algn="l">
              <a:buNone/>
            </a:pPr>
            <a:r>
              <a:rPr lang="ko-KR" sz="1500" b="1" dirty="0">
                <a:solidFill>
                  <a:srgbClr val="C55A11"/>
                </a:solidFill>
                <a:latin typeface="Malgun Gothic"/>
                <a:ea typeface="Malgun Gothic"/>
              </a:rPr>
              <a:t>근거 2   </a:t>
            </a: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지키고 싶은 것이 “기술적 사상”이 아닙니다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저희의 가치는 폴더 구조 · 네이밍 규칙 · 작업 순서 같은 </a:t>
            </a: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사람들 사이의 약속</a:t>
            </a: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에 있습니다. 자연법칙을 이용한 기술적 사상으로 보기는 어렵다고 생각합니다</a:t>
            </a:r>
          </a:p>
        </p:txBody>
      </p:sp>
      <p:sp>
        <p:nvSpPr>
          <p:cNvPr id="8" name="s8"/>
          <p:cNvSpPr/>
          <p:nvPr/>
        </p:nvSpPr>
        <p:spPr>
          <a:xfrm>
            <a:off x="700000" y="4210000"/>
            <a:ext cx="10792000" cy="11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79500" tIns="76200" rIns="143000" bIns="76200" anchor="ctr"/>
          <a:lstStyle/>
          <a:p>
            <a:pPr algn="l">
              <a:buNone/>
            </a:pPr>
            <a:r>
              <a:rPr lang="ko-KR" sz="1500" b="1" dirty="0">
                <a:solidFill>
                  <a:srgbClr val="C55A11"/>
                </a:solidFill>
                <a:latin typeface="Malgun Gothic"/>
                <a:ea typeface="Malgun Gothic"/>
              </a:rPr>
              <a:t>근거 3   </a:t>
            </a: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진보성 문턱을 넘기 어려워 보입니다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같은 문제를 겪어 본 개발자라면 통상의 창작 능력으로 비슷한 구조에 도달할 수 있습니다 — “자명하다”는 거절을 예상합니다</a:t>
            </a:r>
          </a:p>
        </p:txBody>
      </p:sp>
      <p:sp>
        <p:nvSpPr>
          <p:cNvPr id="9" name="s9"/>
          <p:cNvSpPr/>
          <p:nvPr/>
        </p:nvSpPr>
        <p:spPr>
          <a:xfrm>
            <a:off x="863600" y="1971000"/>
            <a:ext cx="508000" cy="508000"/>
          </a:xfrm>
          <a:prstGeom prst="round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46800" rIns="0" bIns="46800" anchor="ctr"/>
          <a:lstStyle/>
          <a:p>
            <a:pPr algn="ctr">
              <a:buNone/>
            </a:pP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0" name="s10"/>
          <p:cNvSpPr/>
          <p:nvPr/>
        </p:nvSpPr>
        <p:spPr>
          <a:xfrm>
            <a:off x="863600" y="3251000"/>
            <a:ext cx="508000" cy="508000"/>
          </a:xfrm>
          <a:prstGeom prst="round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46800" rIns="0" bIns="46800" anchor="ctr"/>
          <a:lstStyle/>
          <a:p>
            <a:pPr algn="ctr">
              <a:buNone/>
            </a:pP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1" name="s11"/>
          <p:cNvSpPr/>
          <p:nvPr/>
        </p:nvSpPr>
        <p:spPr>
          <a:xfrm>
            <a:off x="863600" y="4531000"/>
            <a:ext cx="508000" cy="508000"/>
          </a:xfrm>
          <a:prstGeom prst="round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46800" rIns="0" bIns="46800" anchor="ctr"/>
          <a:lstStyle/>
          <a:p>
            <a:pPr algn="ctr">
              <a:buNone/>
            </a:pP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2" name="s12"/>
          <p:cNvSpPr/>
          <p:nvPr/>
        </p:nvSpPr>
        <p:spPr>
          <a:xfrm>
            <a:off x="700000" y="5560000"/>
            <a:ext cx="10792000" cy="8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300000" tIns="76200" rIns="300000" bIns="76200" anchor="ctr"/>
          <a:lstStyle/>
          <a:p>
            <a:pPr algn="l">
              <a:buNone/>
            </a:pPr>
            <a:r>
              <a:rPr lang="ko-KR" sz="1300" b="1" dirty="0">
                <a:solidFill>
                  <a:srgbClr val="F4B183"/>
                </a:solidFill>
                <a:latin typeface="Malgun Gothic"/>
                <a:ea typeface="Malgun Gothic"/>
              </a:rPr>
              <a:t>그래서 오늘의 질문   </a:t>
            </a: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“특허가 아니라 저작권(프로그램) 등록이 맞는 선택인지 확인받고 싶습니다”</a:t>
            </a:r>
          </a:p>
        </p:txBody>
      </p:sp>
      <p:sp>
        <p:nvSpPr>
          <p:cNvPr id="13" name="s13"/>
          <p:cNvSpPr/>
          <p:nvPr/>
        </p:nvSpPr>
        <p:spPr>
          <a:xfrm>
            <a:off x="7900000" y="6470000"/>
            <a:ext cx="3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React App Scaffold 저작권 상담 자료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09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특허 · 저작권 · 그 밖의 수단, 무엇이 무엇을 지켜주나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저희가 이해한 내용이 맞는지 확인 부탁드립니다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700000"/>
            <a:ext cx="2500000" cy="56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FFFFFF"/>
                </a:solidFill>
                <a:latin typeface="Malgun Gothic"/>
                <a:ea typeface="Malgun Gothic"/>
              </a:rPr>
              <a:t>수단</a:t>
            </a:r>
          </a:p>
        </p:txBody>
      </p:sp>
      <p:sp>
        <p:nvSpPr>
          <p:cNvPr id="7" name="s7"/>
          <p:cNvSpPr/>
          <p:nvPr/>
        </p:nvSpPr>
        <p:spPr>
          <a:xfrm>
            <a:off x="3200000" y="1700000"/>
            <a:ext cx="3700000" cy="56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FFFFFF"/>
                </a:solidFill>
                <a:latin typeface="Malgun Gothic"/>
                <a:ea typeface="Malgun Gothic"/>
              </a:rPr>
              <a:t>보호 대상</a:t>
            </a:r>
          </a:p>
        </p:txBody>
      </p:sp>
      <p:sp>
        <p:nvSpPr>
          <p:cNvPr id="8" name="s8"/>
          <p:cNvSpPr/>
          <p:nvPr/>
        </p:nvSpPr>
        <p:spPr>
          <a:xfrm>
            <a:off x="6900000" y="1700000"/>
            <a:ext cx="4592000" cy="56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FFFFFF"/>
                </a:solidFill>
                <a:latin typeface="Malgun Gothic"/>
                <a:ea typeface="Malgun Gothic"/>
              </a:rPr>
              <a:t>이 프로젝트에 맞는가 (발명자 판단)</a:t>
            </a:r>
          </a:p>
        </p:txBody>
      </p:sp>
      <p:sp>
        <p:nvSpPr>
          <p:cNvPr id="9" name="s9"/>
          <p:cNvSpPr/>
          <p:nvPr/>
        </p:nvSpPr>
        <p:spPr>
          <a:xfrm>
            <a:off x="700000" y="2260000"/>
            <a:ext cx="2500000" cy="78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50" b="1" dirty="0">
                <a:solidFill>
                  <a:srgbClr val="1F3864"/>
                </a:solidFill>
                <a:latin typeface="Malgun Gothic"/>
                <a:ea typeface="Malgun Gothic"/>
              </a:rPr>
              <a:t>특허</a:t>
            </a:r>
          </a:p>
        </p:txBody>
      </p:sp>
      <p:sp>
        <p:nvSpPr>
          <p:cNvPr id="10" name="s10"/>
          <p:cNvSpPr/>
          <p:nvPr/>
        </p:nvSpPr>
        <p:spPr>
          <a:xfrm>
            <a:off x="3200000" y="2260000"/>
            <a:ext cx="3700000" cy="7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방법 · 구조 등 기술적 사상</a:t>
            </a:r>
          </a:p>
        </p:txBody>
      </p:sp>
      <p:sp>
        <p:nvSpPr>
          <p:cNvPr id="11" name="s11"/>
          <p:cNvSpPr/>
          <p:nvPr/>
        </p:nvSpPr>
        <p:spPr>
          <a:xfrm>
            <a:off x="6900000" y="2260000"/>
            <a:ext cx="4592000" cy="78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1F3864"/>
                </a:solidFill>
                <a:latin typeface="Malgun Gothic"/>
                <a:ea typeface="Malgun Gothic"/>
              </a:rPr>
              <a:t>△  구성요소가 공지기술 — 진보성 입증 부담이 큽니다</a:t>
            </a:r>
          </a:p>
        </p:txBody>
      </p:sp>
      <p:sp>
        <p:nvSpPr>
          <p:cNvPr id="12" name="s12"/>
          <p:cNvSpPr/>
          <p:nvPr/>
        </p:nvSpPr>
        <p:spPr>
          <a:xfrm>
            <a:off x="700000" y="3040000"/>
            <a:ext cx="2500000" cy="78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50" b="1" dirty="0">
                <a:solidFill>
                  <a:srgbClr val="1F3864"/>
                </a:solidFill>
                <a:latin typeface="Malgun Gothic"/>
                <a:ea typeface="Malgun Gothic"/>
              </a:rPr>
              <a:t>저작권 (프로그램)</a:t>
            </a:r>
          </a:p>
        </p:txBody>
      </p:sp>
      <p:sp>
        <p:nvSpPr>
          <p:cNvPr id="13" name="s13"/>
          <p:cNvSpPr/>
          <p:nvPr/>
        </p:nvSpPr>
        <p:spPr>
          <a:xfrm>
            <a:off x="3200000" y="3040000"/>
            <a:ext cx="3700000" cy="7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소스코드라는 “표현” 그 자체</a:t>
            </a:r>
          </a:p>
        </p:txBody>
      </p:sp>
      <p:sp>
        <p:nvSpPr>
          <p:cNvPr id="14" name="s14"/>
          <p:cNvSpPr/>
          <p:nvPr/>
        </p:nvSpPr>
        <p:spPr>
          <a:xfrm>
            <a:off x="6900000" y="3040000"/>
            <a:ext cx="4592000" cy="78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1F3864"/>
                </a:solidFill>
                <a:latin typeface="Malgun Gothic"/>
                <a:ea typeface="Malgun Gothic"/>
              </a:rPr>
              <a:t>○  직접 작성한 18,131줄에 그대로 적용됩니다</a:t>
            </a:r>
          </a:p>
        </p:txBody>
      </p:sp>
      <p:sp>
        <p:nvSpPr>
          <p:cNvPr id="15" name="s15"/>
          <p:cNvSpPr/>
          <p:nvPr/>
        </p:nvSpPr>
        <p:spPr>
          <a:xfrm>
            <a:off x="700000" y="3820000"/>
            <a:ext cx="2500000" cy="78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50" b="1" dirty="0">
                <a:solidFill>
                  <a:srgbClr val="1F3864"/>
                </a:solidFill>
                <a:latin typeface="Malgun Gothic"/>
                <a:ea typeface="Malgun Gothic"/>
              </a:rPr>
              <a:t>상표</a:t>
            </a:r>
          </a:p>
        </p:txBody>
      </p:sp>
      <p:sp>
        <p:nvSpPr>
          <p:cNvPr id="16" name="s16"/>
          <p:cNvSpPr/>
          <p:nvPr/>
        </p:nvSpPr>
        <p:spPr>
          <a:xfrm>
            <a:off x="3200000" y="3820000"/>
            <a:ext cx="3700000" cy="7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이름 · 브랜드</a:t>
            </a:r>
          </a:p>
        </p:txBody>
      </p:sp>
      <p:sp>
        <p:nvSpPr>
          <p:cNvPr id="17" name="s17"/>
          <p:cNvSpPr/>
          <p:nvPr/>
        </p:nvSpPr>
        <p:spPr>
          <a:xfrm>
            <a:off x="6900000" y="3820000"/>
            <a:ext cx="4592000" cy="78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1F3864"/>
                </a:solidFill>
                <a:latin typeface="Malgun Gothic"/>
                <a:ea typeface="Malgun Gothic"/>
              </a:rPr>
              <a:t>△  사내 자산이라 당장의 실익은 크지 않습니다</a:t>
            </a:r>
          </a:p>
        </p:txBody>
      </p:sp>
      <p:sp>
        <p:nvSpPr>
          <p:cNvPr id="18" name="s18"/>
          <p:cNvSpPr/>
          <p:nvPr/>
        </p:nvSpPr>
        <p:spPr>
          <a:xfrm>
            <a:off x="700000" y="4600000"/>
            <a:ext cx="2500000" cy="78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50" b="1" dirty="0">
                <a:solidFill>
                  <a:srgbClr val="1F3864"/>
                </a:solidFill>
                <a:latin typeface="Malgun Gothic"/>
                <a:ea typeface="Malgun Gothic"/>
              </a:rPr>
              <a:t>영업비밀</a:t>
            </a:r>
          </a:p>
        </p:txBody>
      </p:sp>
      <p:sp>
        <p:nvSpPr>
          <p:cNvPr id="19" name="s19"/>
          <p:cNvSpPr/>
          <p:nvPr/>
        </p:nvSpPr>
        <p:spPr>
          <a:xfrm>
            <a:off x="3200000" y="4600000"/>
            <a:ext cx="3700000" cy="7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공개하지 않은 정보</a:t>
            </a:r>
          </a:p>
        </p:txBody>
      </p:sp>
      <p:sp>
        <p:nvSpPr>
          <p:cNvPr id="20" name="s20"/>
          <p:cNvSpPr/>
          <p:nvPr/>
        </p:nvSpPr>
        <p:spPr>
          <a:xfrm>
            <a:off x="6900000" y="4600000"/>
            <a:ext cx="4592000" cy="78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1F3864"/>
                </a:solidFill>
                <a:latin typeface="Malgun Gothic"/>
                <a:ea typeface="Malgun Gothic"/>
              </a:rPr>
              <a:t>✕  GitHub 저장소 · 사내 가이드로 이미 공개되어 있습니다</a:t>
            </a:r>
          </a:p>
        </p:txBody>
      </p:sp>
      <p:sp>
        <p:nvSpPr>
          <p:cNvPr id="21" name="s21"/>
          <p:cNvSpPr/>
          <p:nvPr/>
        </p:nvSpPr>
        <p:spPr>
          <a:xfrm>
            <a:off x="700000" y="5560000"/>
            <a:ext cx="10792000" cy="8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300000" tIns="76200" rIns="300000" bIns="76200" anchor="ctr"/>
          <a:lstStyle/>
          <a:p>
            <a:pPr algn="l">
              <a:buNone/>
            </a:pPr>
            <a:r>
              <a:rPr lang="ko-KR" sz="1300" b="1" dirty="0">
                <a:solidFill>
                  <a:srgbClr val="F4B183"/>
                </a:solidFill>
                <a:latin typeface="Malgun Gothic"/>
                <a:ea typeface="Malgun Gothic"/>
              </a:rPr>
              <a:t>저희가 이해한 한계   </a:t>
            </a: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“컨셉이 비슷한 스캐폴드가 나오는 것”은 어떤 권리로도 막기 어렵다고 이해했습니다</a:t>
            </a:r>
          </a:p>
        </p:txBody>
      </p:sp>
      <p:sp>
        <p:nvSpPr>
          <p:cNvPr id="22" name="s22"/>
          <p:cNvSpPr/>
          <p:nvPr/>
        </p:nvSpPr>
        <p:spPr>
          <a:xfrm>
            <a:off x="7900000" y="6470000"/>
            <a:ext cx="3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React App Scaffold 저작권 상담 자료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10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그래서 저작권 등록을 생각하고 있습니다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카피 방지가 목적이 아니라, </a:t>
            </a:r>
            <a:r>
              <a:rPr lang="ko-KR" sz="1400" b="1" dirty="0">
                <a:solidFill>
                  <a:srgbClr val="C55A11"/>
                </a:solidFill>
                <a:latin typeface="Malgun Gothic"/>
                <a:ea typeface="Malgun Gothic"/>
              </a:rPr>
              <a:t>권리 관계를 분명히 해 두는 것</a:t>
            </a: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이 목적입니다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300000" bIns="76200" anchor="ctr"/>
          <a:lstStyle/>
          <a:p>
            <a:pPr algn="l">
              <a:buNone/>
            </a:pPr>
            <a:r>
              <a:rPr lang="ko-KR" sz="1700" b="1" dirty="0">
                <a:solidFill>
                  <a:srgbClr val="1F3864"/>
                </a:solidFill>
                <a:latin typeface="Malgun Gothic"/>
                <a:ea typeface="Malgun Gothic"/>
              </a:rPr>
              <a:t>창작 시점과 저작자를 남깁니다</a:t>
            </a:r>
          </a:p>
          <a:p>
            <a:pPr algn="l">
              <a:spcBef>
                <a:spcPts val="4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등록하면 창작 시점과 저작자가 추정되어, 분쟁이 생겼을 때 “저희가 먼저 만들었다”는 것을 입증하기 수월해진다고 이해했습니다</a:t>
            </a:r>
          </a:p>
        </p:txBody>
      </p:sp>
      <p:sp>
        <p:nvSpPr>
          <p:cNvPr id="7" name="s7"/>
          <p:cNvSpPr/>
          <p:nvPr/>
        </p:nvSpPr>
        <p:spPr>
          <a:xfrm>
            <a:off x="952500" y="2019300"/>
            <a:ext cx="660400" cy="660400"/>
          </a:xfrm>
          <a:prstGeom prst="roundRect">
            <a:avLst/>
          </a:prstGeom>
          <a:solidFill>
            <a:srgbClr val="2E5395"/>
          </a:solidFill>
          <a:ln>
            <a:noFill/>
          </a:ln>
        </p:spPr>
        <p:txBody>
          <a:bodyPr wrap="square" lIns="0" tIns="46800" rIns="0" bIns="46800" anchor="ctr"/>
          <a:lstStyle/>
          <a:p>
            <a:pPr algn="ctr">
              <a:buNone/>
            </a:pPr>
            <a:r>
              <a:rPr lang="ko-KR" sz="2200" b="1" dirty="0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8" name="s8"/>
          <p:cNvSpPr/>
          <p:nvPr/>
        </p:nvSpPr>
        <p:spPr>
          <a:xfrm>
            <a:off x="700000" y="320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300000" bIns="76200" anchor="ctr"/>
          <a:lstStyle/>
          <a:p>
            <a:pPr algn="l">
              <a:buNone/>
            </a:pPr>
            <a:r>
              <a:rPr lang="ko-KR" sz="1700" b="1" dirty="0">
                <a:solidFill>
                  <a:srgbClr val="1F3864"/>
                </a:solidFill>
                <a:latin typeface="Malgun Gothic"/>
                <a:ea typeface="Malgun Gothic"/>
              </a:rPr>
              <a:t>회사와의 권리 관계를 정리합니다</a:t>
            </a:r>
          </a:p>
          <a:p>
            <a:pPr algn="l">
              <a:spcBef>
                <a:spcPts val="4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업무 시간에 만든 부분과 개인적으로 만든 부분이 섞여 있습니다. 누구의 저작물인지를 지금 확정해 두고 싶습니다</a:t>
            </a:r>
          </a:p>
        </p:txBody>
      </p:sp>
      <p:sp>
        <p:nvSpPr>
          <p:cNvPr id="9" name="s9"/>
          <p:cNvSpPr/>
          <p:nvPr/>
        </p:nvSpPr>
        <p:spPr>
          <a:xfrm>
            <a:off x="952500" y="3569300"/>
            <a:ext cx="660400" cy="660400"/>
          </a:xfrm>
          <a:prstGeom prst="round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46800" rIns="0" bIns="46800" anchor="ctr"/>
          <a:lstStyle/>
          <a:p>
            <a:pPr algn="ctr">
              <a:buNone/>
            </a:pPr>
            <a:r>
              <a:rPr lang="ko-KR" sz="2200" b="1" dirty="0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0" name="s10"/>
          <p:cNvSpPr/>
          <p:nvPr/>
        </p:nvSpPr>
        <p:spPr>
          <a:xfrm>
            <a:off x="700000" y="475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300000" bIns="76200" anchor="ctr"/>
          <a:lstStyle/>
          <a:p>
            <a:pPr algn="l">
              <a:buNone/>
            </a:pPr>
            <a:r>
              <a:rPr lang="ko-KR" sz="1700" b="1" dirty="0">
                <a:solidFill>
                  <a:srgbClr val="1F3864"/>
                </a:solidFill>
                <a:latin typeface="Malgun Gothic"/>
                <a:ea typeface="Malgun Gothic"/>
              </a:rPr>
              <a:t>배포의 근거가 됩니다</a:t>
            </a:r>
          </a:p>
          <a:p>
            <a:pPr algn="l">
              <a:spcBef>
                <a:spcPts val="4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다른 팀이나 협력사에 스캐폴드를 넘길 때, 이용 조건을 제시할 법적 근거가 필요합니다</a:t>
            </a:r>
          </a:p>
        </p:txBody>
      </p:sp>
      <p:sp>
        <p:nvSpPr>
          <p:cNvPr id="11" name="s11"/>
          <p:cNvSpPr/>
          <p:nvPr/>
        </p:nvSpPr>
        <p:spPr>
          <a:xfrm>
            <a:off x="952500" y="5119300"/>
            <a:ext cx="660400" cy="6604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txBody>
          <a:bodyPr wrap="square" lIns="0" tIns="46800" rIns="0" bIns="46800" anchor="ctr"/>
          <a:lstStyle/>
          <a:p>
            <a:pPr algn="ctr">
              <a:buNone/>
            </a:pPr>
            <a:r>
              <a:rPr lang="ko-KR" sz="2200" b="1" dirty="0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2" name="s12"/>
          <p:cNvSpPr/>
          <p:nvPr/>
        </p:nvSpPr>
        <p:spPr>
          <a:xfrm>
            <a:off x="7900000" y="6470000"/>
            <a:ext cx="3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React App Scaffold 저작권 상담 자료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11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쟁점 ① — 이 코드의 저작자는 누구입니까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가장 먼저 정리해야 한다고 생각하는 문제입니다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5296000" cy="30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240000" tIns="76200" rIns="143000" bIns="76200" anchor="ctr"/>
          <a:lstStyle/>
          <a:p>
            <a:pPr algn="l">
              <a:buNone/>
            </a:pP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사실관계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150" b="1" dirty="0">
                <a:solidFill>
                  <a:srgbClr val="C55A11"/>
                </a:solidFill>
                <a:latin typeface="Malgun Gothic"/>
                <a:ea typeface="Malgun Gothic"/>
              </a:rPr>
              <a:t>있는 그대로 말씀드립니다</a:t>
            </a:r>
          </a:p>
          <a:p>
            <a:pPr algn="l">
              <a:spcBef>
                <a:spcPts val="500"/>
              </a:spcBef>
              <a:buNone/>
            </a:pP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·   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회사 업무를 위해 만들었습니다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·   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사내 GitHub 조직 계정에 저장되어 있습니다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·   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기획 · 설계 · 구현은 개발자 1인이 주도했습니다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·   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회사가 이를 지시하거나 기획한 문서는 없습니다</a:t>
            </a:r>
          </a:p>
        </p:txBody>
      </p:sp>
      <p:sp>
        <p:nvSpPr>
          <p:cNvPr id="7" name="s7"/>
          <p:cNvSpPr/>
          <p:nvPr/>
        </p:nvSpPr>
        <p:spPr>
          <a:xfrm>
            <a:off x="6196000" y="1650000"/>
            <a:ext cx="5296000" cy="305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240000" tIns="76200" rIns="143000" bIns="76200" anchor="ctr"/>
          <a:lstStyle/>
          <a:p>
            <a:pPr algn="l">
              <a:buNone/>
            </a:pPr>
            <a:r>
              <a:rPr lang="ko-KR" sz="1600" b="1" dirty="0">
                <a:solidFill>
                  <a:srgbClr val="FFFFFF"/>
                </a:solidFill>
                <a:latin typeface="Malgun Gothic"/>
                <a:ea typeface="Malgun Gothic"/>
              </a:rPr>
              <a:t>여쭙고 싶은 것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150" b="1" dirty="0">
                <a:solidFill>
                  <a:srgbClr val="F4B183"/>
                </a:solidFill>
                <a:latin typeface="Malgun Gothic"/>
                <a:ea typeface="Malgun Gothic"/>
              </a:rPr>
              <a:t>업무상저작물(저작권법 제9조) 해당 여부</a:t>
            </a:r>
          </a:p>
          <a:p>
            <a:pPr algn="l">
              <a:spcBef>
                <a:spcPts val="500"/>
              </a:spcBef>
              <a:buNone/>
            </a:pPr>
            <a:r>
              <a:rPr lang="ko-KR" sz="1300" b="1" dirty="0">
                <a:solidFill>
                  <a:srgbClr val="8FAADC"/>
                </a:solidFill>
                <a:latin typeface="Malgun Gothic"/>
                <a:ea typeface="Malgun Gothic"/>
              </a:rPr>
              <a:t>·   </a:t>
            </a:r>
            <a:r>
              <a:rPr lang="ko-KR" sz="1300" dirty="0">
                <a:solidFill>
                  <a:srgbClr val="D9E2F3"/>
                </a:solidFill>
                <a:latin typeface="Malgun Gothic"/>
                <a:ea typeface="Malgun Gothic"/>
              </a:rPr>
              <a:t>이 코드는 업무상저작물에 해당합니까?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300" b="1" dirty="0">
                <a:solidFill>
                  <a:srgbClr val="8FAADC"/>
                </a:solidFill>
                <a:latin typeface="Malgun Gothic"/>
                <a:ea typeface="Malgun Gothic"/>
              </a:rPr>
              <a:t>·   </a:t>
            </a:r>
            <a:r>
              <a:rPr lang="ko-KR" sz="1300" dirty="0">
                <a:solidFill>
                  <a:srgbClr val="D9E2F3"/>
                </a:solidFill>
                <a:latin typeface="Malgun Gothic"/>
                <a:ea typeface="Malgun Gothic"/>
              </a:rPr>
              <a:t>해당한다면 개인 명의 등록은 불가능합니까?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300" b="1" dirty="0">
                <a:solidFill>
                  <a:srgbClr val="8FAADC"/>
                </a:solidFill>
                <a:latin typeface="Malgun Gothic"/>
                <a:ea typeface="Malgun Gothic"/>
              </a:rPr>
              <a:t>·   </a:t>
            </a:r>
            <a:r>
              <a:rPr lang="ko-KR" sz="1300" dirty="0">
                <a:solidFill>
                  <a:srgbClr val="D9E2F3"/>
                </a:solidFill>
                <a:latin typeface="Malgun Gothic"/>
                <a:ea typeface="Malgun Gothic"/>
              </a:rPr>
              <a:t>회사와 미리 합의해 둘 사항은 무엇입니까?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300" b="1" dirty="0">
                <a:solidFill>
                  <a:srgbClr val="8FAADC"/>
                </a:solidFill>
                <a:latin typeface="Malgun Gothic"/>
                <a:ea typeface="Malgun Gothic"/>
              </a:rPr>
              <a:t>·   </a:t>
            </a:r>
            <a:r>
              <a:rPr lang="ko-KR" sz="1300" dirty="0">
                <a:solidFill>
                  <a:srgbClr val="D9E2F3"/>
                </a:solidFill>
                <a:latin typeface="Malgun Gothic"/>
                <a:ea typeface="Malgun Gothic"/>
              </a:rPr>
              <a:t>지금이라도 서면으로 남길 수 있습니까?</a:t>
            </a:r>
          </a:p>
        </p:txBody>
      </p:sp>
      <p:sp>
        <p:nvSpPr>
          <p:cNvPr id="8" name="s8"/>
          <p:cNvSpPr/>
          <p:nvPr/>
        </p:nvSpPr>
        <p:spPr>
          <a:xfrm>
            <a:off x="700000" y="5000000"/>
            <a:ext cx="10792000" cy="9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300000" tIns="76200" rIns="300000" bIns="76200" anchor="ctr"/>
          <a:lstStyle/>
          <a:p>
            <a:pPr algn="l">
              <a:buNone/>
            </a:pPr>
            <a:r>
              <a:rPr lang="ko-KR" sz="1300" b="1" dirty="0">
                <a:solidFill>
                  <a:srgbClr val="F4B183"/>
                </a:solidFill>
                <a:latin typeface="Malgun Gothic"/>
                <a:ea typeface="Malgun Gothic"/>
              </a:rPr>
              <a:t>이것이 갈림길입니다   </a:t>
            </a: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이 답에 따라 등록 신청인이 개인이 될지, 법인이 될지가 결정됩니다</a:t>
            </a:r>
          </a:p>
        </p:txBody>
      </p:sp>
      <p:sp>
        <p:nvSpPr>
          <p:cNvPr id="9" name="s9"/>
          <p:cNvSpPr/>
          <p:nvPr/>
        </p:nvSpPr>
        <p:spPr>
          <a:xfrm>
            <a:off x="7900000" y="6470000"/>
            <a:ext cx="3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React App Scaffold 저작권 상담 자료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12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쟁점 ② — 남의 코드와 저희 코드가 섞여 있습니다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등록 대상에서 무엇을 빼야 하는지 판단이 필요합니다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11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79500" tIns="76200" rIns="143000" bIns="76200" anchor="ctr"/>
          <a:lstStyle/>
          <a:p>
            <a:pPr algn="l">
              <a:buNone/>
            </a:pPr>
            <a:r>
              <a:rPr lang="ko-KR" sz="1500" b="1" dirty="0">
                <a:solidFill>
                  <a:srgbClr val="C55A11"/>
                </a:solidFill>
                <a:latin typeface="Malgun Gothic"/>
                <a:ea typeface="Malgun Gothic"/>
              </a:rPr>
              <a:t>오픈소스 의존성   </a:t>
            </a: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72개 패키지를 가져다 씁니다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설치해서 쓰는 라이브러리라 저희 코드에 포함되지는 않지만, MIT 등 라이선스와의 관계를 확인하고 싶습니다</a:t>
            </a:r>
          </a:p>
        </p:txBody>
      </p:sp>
      <p:sp>
        <p:nvSpPr>
          <p:cNvPr id="7" name="s7"/>
          <p:cNvSpPr/>
          <p:nvPr/>
        </p:nvSpPr>
        <p:spPr>
          <a:xfrm>
            <a:off x="700000" y="2930000"/>
            <a:ext cx="10792000" cy="11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79500" tIns="76200" rIns="143000" bIns="76200" anchor="ctr"/>
          <a:lstStyle/>
          <a:p>
            <a:pPr algn="l">
              <a:buNone/>
            </a:pPr>
            <a:r>
              <a:rPr lang="ko-KR" sz="1500" b="1" dirty="0">
                <a:solidFill>
                  <a:srgbClr val="C55A11"/>
                </a:solidFill>
                <a:latin typeface="Malgun Gothic"/>
                <a:ea typeface="Malgun Gothic"/>
              </a:rPr>
              <a:t>shadcn/ui   </a:t>
            </a: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코드를 복사해서 프로젝트 안에 넣는 방식입니다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라이브러리가 아니라 </a:t>
            </a: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남의 소스코드가 저희 저장소 안에 그대로 들어와 있는</a:t>
            </a: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 형태입니다. 고쳐 쓰기는 하지만 원본은 저희 저작물이 아닙니다</a:t>
            </a:r>
          </a:p>
        </p:txBody>
      </p:sp>
      <p:sp>
        <p:nvSpPr>
          <p:cNvPr id="8" name="s8"/>
          <p:cNvSpPr/>
          <p:nvPr/>
        </p:nvSpPr>
        <p:spPr>
          <a:xfrm>
            <a:off x="700000" y="4210000"/>
            <a:ext cx="10792000" cy="11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79500" tIns="76200" rIns="143000" bIns="76200" anchor="ctr"/>
          <a:lstStyle/>
          <a:p>
            <a:pPr algn="l">
              <a:buNone/>
            </a:pPr>
            <a:r>
              <a:rPr lang="ko-KR" sz="1500" b="1" dirty="0">
                <a:solidFill>
                  <a:srgbClr val="C55A11"/>
                </a:solidFill>
                <a:latin typeface="Malgun Gothic"/>
                <a:ea typeface="Malgun Gothic"/>
              </a:rPr>
              <a:t>자동 생성물 · 예제   </a:t>
            </a: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창작물로 볼 수 있는지 모르겠습니다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JSON에서 기계가 만들어 낸 CSS · 타입 파일, 그리고 example 도메인 같은 참고용 예제 코드입니다</a:t>
            </a:r>
          </a:p>
        </p:txBody>
      </p:sp>
      <p:sp>
        <p:nvSpPr>
          <p:cNvPr id="9" name="s9"/>
          <p:cNvSpPr/>
          <p:nvPr/>
        </p:nvSpPr>
        <p:spPr>
          <a:xfrm>
            <a:off x="863600" y="1971000"/>
            <a:ext cx="508000" cy="508000"/>
          </a:xfrm>
          <a:prstGeom prst="roundRect">
            <a:avLst/>
          </a:prstGeom>
          <a:solidFill>
            <a:srgbClr val="2E5395"/>
          </a:solidFill>
          <a:ln>
            <a:noFill/>
          </a:ln>
        </p:spPr>
        <p:txBody>
          <a:bodyPr wrap="square" lIns="0" tIns="46800" rIns="0" bIns="46800" anchor="ctr"/>
          <a:lstStyle/>
          <a:p>
            <a:pPr algn="ctr">
              <a:buNone/>
            </a:pP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Ⓐ</a:t>
            </a:r>
          </a:p>
        </p:txBody>
      </p:sp>
      <p:sp>
        <p:nvSpPr>
          <p:cNvPr id="10" name="s10"/>
          <p:cNvSpPr/>
          <p:nvPr/>
        </p:nvSpPr>
        <p:spPr>
          <a:xfrm>
            <a:off x="863600" y="3251000"/>
            <a:ext cx="508000" cy="508000"/>
          </a:xfrm>
          <a:prstGeom prst="roundRect">
            <a:avLst/>
          </a:prstGeom>
          <a:solidFill>
            <a:srgbClr val="2E5395"/>
          </a:solidFill>
          <a:ln>
            <a:noFill/>
          </a:ln>
        </p:spPr>
        <p:txBody>
          <a:bodyPr wrap="square" lIns="0" tIns="46800" rIns="0" bIns="46800" anchor="ctr"/>
          <a:lstStyle/>
          <a:p>
            <a:pPr algn="ctr">
              <a:buNone/>
            </a:pP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Ⓑ</a:t>
            </a:r>
          </a:p>
        </p:txBody>
      </p:sp>
      <p:sp>
        <p:nvSpPr>
          <p:cNvPr id="11" name="s11"/>
          <p:cNvSpPr/>
          <p:nvPr/>
        </p:nvSpPr>
        <p:spPr>
          <a:xfrm>
            <a:off x="863600" y="4531000"/>
            <a:ext cx="508000" cy="508000"/>
          </a:xfrm>
          <a:prstGeom prst="roundRect">
            <a:avLst/>
          </a:prstGeom>
          <a:solidFill>
            <a:srgbClr val="2E5395"/>
          </a:solidFill>
          <a:ln>
            <a:noFill/>
          </a:ln>
        </p:spPr>
        <p:txBody>
          <a:bodyPr wrap="square" lIns="0" tIns="46800" rIns="0" bIns="46800" anchor="ctr"/>
          <a:lstStyle/>
          <a:p>
            <a:pPr algn="ctr">
              <a:buNone/>
            </a:pP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Ⓒ</a:t>
            </a:r>
          </a:p>
        </p:txBody>
      </p:sp>
      <p:sp>
        <p:nvSpPr>
          <p:cNvPr id="12" name="s12"/>
          <p:cNvSpPr/>
          <p:nvPr/>
        </p:nvSpPr>
        <p:spPr>
          <a:xfrm>
            <a:off x="700000" y="5560000"/>
            <a:ext cx="10792000" cy="8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300000" tIns="76200" rIns="300000" bIns="76200" anchor="ctr"/>
          <a:lstStyle/>
          <a:p>
            <a:pPr algn="l">
              <a:buNone/>
            </a:pPr>
            <a:r>
              <a:rPr lang="ko-KR" sz="1300" b="1" dirty="0">
                <a:solidFill>
                  <a:srgbClr val="F4B183"/>
                </a:solidFill>
                <a:latin typeface="Malgun Gothic"/>
                <a:ea typeface="Malgun Gothic"/>
              </a:rPr>
              <a:t>여쭙고 싶은 것   </a:t>
            </a: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등록 시 제출하는 소스코드에서 제3자 코드를 어떻게 배제해야 합니까?</a:t>
            </a:r>
          </a:p>
        </p:txBody>
      </p:sp>
      <p:sp>
        <p:nvSpPr>
          <p:cNvPr id="13" name="s13"/>
          <p:cNvSpPr/>
          <p:nvPr/>
        </p:nvSpPr>
        <p:spPr>
          <a:xfrm>
            <a:off x="7900000" y="6470000"/>
            <a:ext cx="3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React App Scaffold 저작권 상담 자료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13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저희 코드와 가져다 쓴 코드의 경계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현재 저희가 파악한 경계선입니다 — </a:t>
            </a:r>
            <a:r>
              <a:rPr lang="ko-KR" sz="1400" b="1" dirty="0">
                <a:solidFill>
                  <a:srgbClr val="C55A11"/>
                </a:solidFill>
                <a:latin typeface="Malgun Gothic"/>
                <a:ea typeface="Malgun Gothic"/>
              </a:rPr>
              <a:t>이 판단이 맞는지 검토 부탁드립니다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700000"/>
            <a:ext cx="3100000" cy="6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FFFFFF"/>
                </a:solidFill>
                <a:latin typeface="Malgun Gothic"/>
                <a:ea typeface="Malgun Gothic"/>
              </a:rPr>
              <a:t>위치</a:t>
            </a:r>
          </a:p>
        </p:txBody>
      </p:sp>
      <p:sp>
        <p:nvSpPr>
          <p:cNvPr id="7" name="s7"/>
          <p:cNvSpPr/>
          <p:nvPr/>
        </p:nvSpPr>
        <p:spPr>
          <a:xfrm>
            <a:off x="3800000" y="1700000"/>
            <a:ext cx="3600000" cy="6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FFFFFF"/>
                </a:solidFill>
                <a:latin typeface="Malgun Gothic"/>
                <a:ea typeface="Malgun Gothic"/>
              </a:rPr>
              <a:t>성격</a:t>
            </a:r>
          </a:p>
        </p:txBody>
      </p:sp>
      <p:sp>
        <p:nvSpPr>
          <p:cNvPr id="8" name="s8"/>
          <p:cNvSpPr/>
          <p:nvPr/>
        </p:nvSpPr>
        <p:spPr>
          <a:xfrm>
            <a:off x="7400000" y="1700000"/>
            <a:ext cx="4092000" cy="6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FFFFFF"/>
                </a:solidFill>
                <a:latin typeface="Malgun Gothic"/>
                <a:ea typeface="Malgun Gothic"/>
              </a:rPr>
              <a:t>저작권 귀속에 대한 발명자 판단</a:t>
            </a:r>
          </a:p>
        </p:txBody>
      </p:sp>
      <p:sp>
        <p:nvSpPr>
          <p:cNvPr id="9" name="s9"/>
          <p:cNvSpPr/>
          <p:nvPr/>
        </p:nvSpPr>
        <p:spPr>
          <a:xfrm>
            <a:off x="700000" y="2320000"/>
            <a:ext cx="3100000" cy="76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00" b="1" dirty="0">
                <a:solidFill>
                  <a:srgbClr val="1F3864"/>
                </a:solidFill>
                <a:latin typeface="Malgun Gothic"/>
                <a:ea typeface="Malgun Gothic"/>
              </a:rPr>
              <a:t>core / shared / domains</a:t>
            </a:r>
          </a:p>
        </p:txBody>
      </p:sp>
      <p:sp>
        <p:nvSpPr>
          <p:cNvPr id="10" name="s10"/>
          <p:cNvSpPr/>
          <p:nvPr/>
        </p:nvSpPr>
        <p:spPr>
          <a:xfrm>
            <a:off x="3800000" y="2320000"/>
            <a:ext cx="3600000" cy="7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00" dirty="0">
                <a:solidFill>
                  <a:srgbClr val="595959"/>
                </a:solidFill>
                <a:latin typeface="Malgun Gothic"/>
                <a:ea typeface="Malgun Gothic"/>
              </a:rPr>
              <a:t>직접 작성한 애플리케이션 코드</a:t>
            </a:r>
          </a:p>
        </p:txBody>
      </p:sp>
      <p:sp>
        <p:nvSpPr>
          <p:cNvPr id="11" name="s11"/>
          <p:cNvSpPr/>
          <p:nvPr/>
        </p:nvSpPr>
        <p:spPr>
          <a:xfrm>
            <a:off x="7400000" y="2320000"/>
            <a:ext cx="4092000" cy="76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00" dirty="0">
                <a:solidFill>
                  <a:srgbClr val="1F3864"/>
                </a:solidFill>
                <a:latin typeface="Malgun Gothic"/>
                <a:ea typeface="Malgun Gothic"/>
              </a:rPr>
              <a:t>저희 저작물이라고 봅니다</a:t>
            </a:r>
          </a:p>
        </p:txBody>
      </p:sp>
      <p:sp>
        <p:nvSpPr>
          <p:cNvPr id="12" name="s12"/>
          <p:cNvSpPr/>
          <p:nvPr/>
        </p:nvSpPr>
        <p:spPr>
          <a:xfrm>
            <a:off x="700000" y="3080000"/>
            <a:ext cx="3100000" cy="76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00" b="1" dirty="0">
                <a:solidFill>
                  <a:srgbClr val="1F3864"/>
                </a:solidFill>
                <a:latin typeface="Malgun Gothic"/>
                <a:ea typeface="Malgun Gothic"/>
              </a:rPr>
              <a:t>shared/ui/smart-table</a:t>
            </a:r>
          </a:p>
        </p:txBody>
      </p:sp>
      <p:sp>
        <p:nvSpPr>
          <p:cNvPr id="13" name="s13"/>
          <p:cNvSpPr/>
          <p:nvPr/>
        </p:nvSpPr>
        <p:spPr>
          <a:xfrm>
            <a:off x="3800000" y="3080000"/>
            <a:ext cx="3600000" cy="7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00" dirty="0">
                <a:solidFill>
                  <a:srgbClr val="595959"/>
                </a:solidFill>
                <a:latin typeface="Malgun Gothic"/>
                <a:ea typeface="Malgun Gothic"/>
              </a:rPr>
              <a:t>TanStack Table 위에 21개 파일로 직접 구현</a:t>
            </a:r>
          </a:p>
        </p:txBody>
      </p:sp>
      <p:sp>
        <p:nvSpPr>
          <p:cNvPr id="14" name="s14"/>
          <p:cNvSpPr/>
          <p:nvPr/>
        </p:nvSpPr>
        <p:spPr>
          <a:xfrm>
            <a:off x="7400000" y="3080000"/>
            <a:ext cx="4092000" cy="76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00" dirty="0">
                <a:solidFill>
                  <a:srgbClr val="1F3864"/>
                </a:solidFill>
                <a:latin typeface="Malgun Gothic"/>
                <a:ea typeface="Malgun Gothic"/>
              </a:rPr>
              <a:t>창작성이 가장 높은 부분입니다</a:t>
            </a:r>
          </a:p>
        </p:txBody>
      </p:sp>
      <p:sp>
        <p:nvSpPr>
          <p:cNvPr id="15" name="s15"/>
          <p:cNvSpPr/>
          <p:nvPr/>
        </p:nvSpPr>
        <p:spPr>
          <a:xfrm>
            <a:off x="700000" y="3840000"/>
            <a:ext cx="3100000" cy="76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00" b="1" dirty="0">
                <a:solidFill>
                  <a:srgbClr val="1F3864"/>
                </a:solidFill>
                <a:latin typeface="Malgun Gothic"/>
                <a:ea typeface="Malgun Gothic"/>
              </a:rPr>
              <a:t>core/store/defineStore.ts</a:t>
            </a:r>
          </a:p>
        </p:txBody>
      </p:sp>
      <p:sp>
        <p:nvSpPr>
          <p:cNvPr id="16" name="s16"/>
          <p:cNvSpPr/>
          <p:nvPr/>
        </p:nvSpPr>
        <p:spPr>
          <a:xfrm>
            <a:off x="3800000" y="3840000"/>
            <a:ext cx="3600000" cy="7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00" dirty="0">
                <a:solidFill>
                  <a:srgbClr val="595959"/>
                </a:solidFill>
                <a:latin typeface="Malgun Gothic"/>
                <a:ea typeface="Malgun Gothic"/>
              </a:rPr>
              <a:t>Zustand 위에 얹은 자체 추상화</a:t>
            </a:r>
          </a:p>
        </p:txBody>
      </p:sp>
      <p:sp>
        <p:nvSpPr>
          <p:cNvPr id="17" name="s17"/>
          <p:cNvSpPr/>
          <p:nvPr/>
        </p:nvSpPr>
        <p:spPr>
          <a:xfrm>
            <a:off x="7400000" y="3840000"/>
            <a:ext cx="4092000" cy="76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00" dirty="0">
                <a:solidFill>
                  <a:srgbClr val="1F3864"/>
                </a:solidFill>
                <a:latin typeface="Malgun Gothic"/>
                <a:ea typeface="Malgun Gothic"/>
              </a:rPr>
              <a:t>저희 저작물이라고 봅니다</a:t>
            </a:r>
          </a:p>
        </p:txBody>
      </p:sp>
      <p:sp>
        <p:nvSpPr>
          <p:cNvPr id="18" name="s18"/>
          <p:cNvSpPr/>
          <p:nvPr/>
        </p:nvSpPr>
        <p:spPr>
          <a:xfrm>
            <a:off x="700000" y="4600000"/>
            <a:ext cx="3100000" cy="76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00" b="1" dirty="0">
                <a:solidFill>
                  <a:srgbClr val="1F3864"/>
                </a:solidFill>
                <a:latin typeface="Malgun Gothic"/>
                <a:ea typeface="Malgun Gothic"/>
              </a:rPr>
              <a:t>shared/components/ui</a:t>
            </a:r>
          </a:p>
        </p:txBody>
      </p:sp>
      <p:sp>
        <p:nvSpPr>
          <p:cNvPr id="19" name="s19"/>
          <p:cNvSpPr/>
          <p:nvPr/>
        </p:nvSpPr>
        <p:spPr>
          <a:xfrm>
            <a:off x="3800000" y="4600000"/>
            <a:ext cx="3600000" cy="7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00" dirty="0">
                <a:solidFill>
                  <a:srgbClr val="595959"/>
                </a:solidFill>
                <a:latin typeface="Malgun Gothic"/>
                <a:ea typeface="Malgun Gothic"/>
              </a:rPr>
              <a:t>shadcn 코드를 복사한 뒤 수정</a:t>
            </a:r>
          </a:p>
        </p:txBody>
      </p:sp>
      <p:sp>
        <p:nvSpPr>
          <p:cNvPr id="20" name="s20"/>
          <p:cNvSpPr/>
          <p:nvPr/>
        </p:nvSpPr>
        <p:spPr>
          <a:xfrm>
            <a:off x="7400000" y="4600000"/>
            <a:ext cx="4092000" cy="76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00" dirty="0">
                <a:solidFill>
                  <a:srgbClr val="1F3864"/>
                </a:solidFill>
                <a:latin typeface="Malgun Gothic"/>
                <a:ea typeface="Malgun Gothic"/>
              </a:rPr>
              <a:t>2차적저작물 해당 여부 확인 필요</a:t>
            </a:r>
          </a:p>
        </p:txBody>
      </p:sp>
      <p:sp>
        <p:nvSpPr>
          <p:cNvPr id="21" name="s21"/>
          <p:cNvSpPr/>
          <p:nvPr/>
        </p:nvSpPr>
        <p:spPr>
          <a:xfrm>
            <a:off x="700000" y="5360000"/>
            <a:ext cx="3100000" cy="76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00" b="1" dirty="0">
                <a:solidFill>
                  <a:srgbClr val="1F3864"/>
                </a:solidFill>
                <a:latin typeface="Malgun Gothic"/>
                <a:ea typeface="Malgun Gothic"/>
              </a:rPr>
              <a:t>assets/styles/tokens/*.css</a:t>
            </a:r>
          </a:p>
        </p:txBody>
      </p:sp>
      <p:sp>
        <p:nvSpPr>
          <p:cNvPr id="22" name="s22"/>
          <p:cNvSpPr/>
          <p:nvPr/>
        </p:nvSpPr>
        <p:spPr>
          <a:xfrm>
            <a:off x="3800000" y="5360000"/>
            <a:ext cx="3600000" cy="7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00" dirty="0">
                <a:solidFill>
                  <a:srgbClr val="595959"/>
                </a:solidFill>
                <a:latin typeface="Malgun Gothic"/>
                <a:ea typeface="Malgun Gothic"/>
              </a:rPr>
              <a:t>JSON에서 자동 생성된 산출물</a:t>
            </a:r>
          </a:p>
        </p:txBody>
      </p:sp>
      <p:sp>
        <p:nvSpPr>
          <p:cNvPr id="23" name="s23"/>
          <p:cNvSpPr/>
          <p:nvPr/>
        </p:nvSpPr>
        <p:spPr>
          <a:xfrm>
            <a:off x="7400000" y="5360000"/>
            <a:ext cx="4092000" cy="76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80000" tIns="46800" rIns="120000" bIns="46800" anchor="ctr"/>
          <a:lstStyle/>
          <a:p>
            <a:pPr algn="l">
              <a:buNone/>
            </a:pPr>
            <a:r>
              <a:rPr lang="ko-KR" sz="1100" dirty="0">
                <a:solidFill>
                  <a:srgbClr val="1F3864"/>
                </a:solidFill>
                <a:latin typeface="Malgun Gothic"/>
                <a:ea typeface="Malgun Gothic"/>
              </a:rPr>
              <a:t>저작물성이 인정되는지 확인 필요</a:t>
            </a:r>
          </a:p>
        </p:txBody>
      </p:sp>
      <p:sp>
        <p:nvSpPr>
          <p:cNvPr id="24" name="s24"/>
          <p:cNvSpPr/>
          <p:nvPr/>
        </p:nvSpPr>
        <p:spPr>
          <a:xfrm>
            <a:off x="7900000" y="6470000"/>
            <a:ext cx="3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React App Scaffold 저작권 상담 자료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14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걱정되는 점도 미리 말씀드립니다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감추지 않고 먼저 꺼내 놓고, 대응 방법을 여쭙겠습니다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300000" bIns="76200" anchor="ctr"/>
          <a:lstStyle/>
          <a:p>
            <a:pPr algn="l">
              <a:buNone/>
            </a:pPr>
            <a:r>
              <a:rPr lang="ko-KR" sz="1700" b="1" dirty="0">
                <a:solidFill>
                  <a:srgbClr val="1F3864"/>
                </a:solidFill>
                <a:latin typeface="Malgun Gothic"/>
                <a:ea typeface="Malgun Gothic"/>
              </a:rPr>
              <a:t>이미 공개되어 있습니다</a:t>
            </a:r>
          </a:p>
          <a:p>
            <a:pPr algn="l">
              <a:spcBef>
                <a:spcPts val="4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GitHub 저장소와 사내 가이드 문서로 공유해 왔습니다. 저작권에는 문제가 없다고 이해했지만, 혹시라도 특허를 검토한다면 신규성에 영향이 있는지 궁금합니다</a:t>
            </a:r>
          </a:p>
        </p:txBody>
      </p:sp>
      <p:sp>
        <p:nvSpPr>
          <p:cNvPr id="7" name="s7"/>
          <p:cNvSpPr/>
          <p:nvPr/>
        </p:nvSpPr>
        <p:spPr>
          <a:xfrm>
            <a:off x="952500" y="2019300"/>
            <a:ext cx="660400" cy="660400"/>
          </a:xfrm>
          <a:prstGeom prst="roundRect">
            <a:avLst/>
          </a:prstGeom>
          <a:solidFill>
            <a:srgbClr val="2E5395"/>
          </a:solidFill>
          <a:ln>
            <a:noFill/>
          </a:ln>
        </p:spPr>
        <p:txBody>
          <a:bodyPr wrap="square" lIns="0" tIns="46800" rIns="0" bIns="46800" anchor="ctr"/>
          <a:lstStyle/>
          <a:p>
            <a:pPr algn="ctr">
              <a:buNone/>
            </a:pPr>
            <a:r>
              <a:rPr lang="ko-KR" sz="2200" b="1" dirty="0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8" name="s8"/>
          <p:cNvSpPr/>
          <p:nvPr/>
        </p:nvSpPr>
        <p:spPr>
          <a:xfrm>
            <a:off x="700000" y="320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300000" bIns="76200" anchor="ctr"/>
          <a:lstStyle/>
          <a:p>
            <a:pPr algn="l">
              <a:buNone/>
            </a:pPr>
            <a:r>
              <a:rPr lang="ko-KR" sz="1700" b="1" dirty="0">
                <a:solidFill>
                  <a:srgbClr val="1F3864"/>
                </a:solidFill>
                <a:latin typeface="Malgun Gothic"/>
                <a:ea typeface="Malgun Gothic"/>
              </a:rPr>
              <a:t>계속 바뀌는 코드입니다</a:t>
            </a:r>
          </a:p>
          <a:p>
            <a:pPr algn="l">
              <a:spcBef>
                <a:spcPts val="4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스캐폴드는 프로젝트마다 개선됩니다. 등록 시점의 버전만 보호되는 것인지, 개정할 때마다 다시 등록해야 하는지 알고 싶습니다</a:t>
            </a:r>
          </a:p>
        </p:txBody>
      </p:sp>
      <p:sp>
        <p:nvSpPr>
          <p:cNvPr id="9" name="s9"/>
          <p:cNvSpPr/>
          <p:nvPr/>
        </p:nvSpPr>
        <p:spPr>
          <a:xfrm>
            <a:off x="952500" y="3569300"/>
            <a:ext cx="660400" cy="660400"/>
          </a:xfrm>
          <a:prstGeom prst="round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46800" rIns="0" bIns="46800" anchor="ctr"/>
          <a:lstStyle/>
          <a:p>
            <a:pPr algn="ctr">
              <a:buNone/>
            </a:pPr>
            <a:r>
              <a:rPr lang="ko-KR" sz="2200" b="1" dirty="0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0" name="s10"/>
          <p:cNvSpPr/>
          <p:nvPr/>
        </p:nvSpPr>
        <p:spPr>
          <a:xfrm>
            <a:off x="700000" y="475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300000" bIns="76200" anchor="ctr"/>
          <a:lstStyle/>
          <a:p>
            <a:pPr algn="l">
              <a:buNone/>
            </a:pPr>
            <a:r>
              <a:rPr lang="ko-KR" sz="1700" b="1" dirty="0">
                <a:solidFill>
                  <a:srgbClr val="1F3864"/>
                </a:solidFill>
                <a:latin typeface="Malgun Gothic"/>
                <a:ea typeface="Malgun Gothic"/>
              </a:rPr>
              <a:t>라이선스 문구가 없습니다</a:t>
            </a:r>
          </a:p>
          <a:p>
            <a:pPr algn="l">
              <a:spcBef>
                <a:spcPts val="4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LICENSE 파일도, 이용 조건도 정해 두지 않았습니다. 등록과 함께 정리해야 할 것 같습니다</a:t>
            </a:r>
          </a:p>
        </p:txBody>
      </p:sp>
      <p:sp>
        <p:nvSpPr>
          <p:cNvPr id="11" name="s11"/>
          <p:cNvSpPr/>
          <p:nvPr/>
        </p:nvSpPr>
        <p:spPr>
          <a:xfrm>
            <a:off x="952500" y="5119300"/>
            <a:ext cx="660400" cy="6604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txBody>
          <a:bodyPr wrap="square" lIns="0" tIns="46800" rIns="0" bIns="46800" anchor="ctr"/>
          <a:lstStyle/>
          <a:p>
            <a:pPr algn="ctr">
              <a:buNone/>
            </a:pPr>
            <a:r>
              <a:rPr lang="ko-KR" sz="2200" b="1" dirty="0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2" name="s12"/>
          <p:cNvSpPr/>
          <p:nvPr/>
        </p:nvSpPr>
        <p:spPr>
          <a:xfrm>
            <a:off x="7900000" y="6470000"/>
            <a:ext cx="3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React App Scaffold 저작권 상담 자료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15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여쭤보고 싶은 것, 다섯 가지입니다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오늘 이 다섯 가지에 답을 얻으면 성공이라고 생각하고 왔습니다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00000" tIns="76200" rIns="240000" bIns="76200" anchor="ctr"/>
          <a:lstStyle/>
          <a:p>
            <a:pPr algn="l"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저작권 등록 — 이 프로젝트에 실익이 있는 선택입니까?</a:t>
            </a:r>
          </a:p>
        </p:txBody>
      </p:sp>
      <p:sp>
        <p:nvSpPr>
          <p:cNvPr id="7" name="s7"/>
          <p:cNvSpPr/>
          <p:nvPr/>
        </p:nvSpPr>
        <p:spPr>
          <a:xfrm>
            <a:off x="863600" y="1811000"/>
            <a:ext cx="584200" cy="508000"/>
          </a:xfrm>
          <a:prstGeom prst="roundRect">
            <a:avLst/>
          </a:prstGeom>
          <a:solidFill>
            <a:srgbClr val="2E5395"/>
          </a:solidFill>
          <a:ln>
            <a:noFill/>
          </a:ln>
        </p:spPr>
        <p:txBody>
          <a:bodyPr wrap="square" lIns="0" tIns="46800" rIns="0" bIns="46800" anchor="ctr"/>
          <a:lstStyle/>
          <a:p>
            <a:pPr algn="ctr">
              <a:buNone/>
            </a:pP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Q1</a:t>
            </a:r>
          </a:p>
        </p:txBody>
      </p:sp>
      <p:sp>
        <p:nvSpPr>
          <p:cNvPr id="8" name="s8"/>
          <p:cNvSpPr/>
          <p:nvPr/>
        </p:nvSpPr>
        <p:spPr>
          <a:xfrm>
            <a:off x="700000" y="259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00000" tIns="76200" rIns="240000" bIns="76200" anchor="ctr"/>
          <a:lstStyle/>
          <a:p>
            <a:pPr algn="l"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저작자 — 업무상저작물에 해당합니까? 개인 명의 등록이 가능합니까?</a:t>
            </a:r>
          </a:p>
        </p:txBody>
      </p:sp>
      <p:sp>
        <p:nvSpPr>
          <p:cNvPr id="9" name="s9"/>
          <p:cNvSpPr/>
          <p:nvPr/>
        </p:nvSpPr>
        <p:spPr>
          <a:xfrm>
            <a:off x="863600" y="2751000"/>
            <a:ext cx="584200" cy="508000"/>
          </a:xfrm>
          <a:prstGeom prst="roundRect">
            <a:avLst/>
          </a:prstGeom>
          <a:solidFill>
            <a:srgbClr val="2E5395"/>
          </a:solidFill>
          <a:ln>
            <a:noFill/>
          </a:ln>
        </p:spPr>
        <p:txBody>
          <a:bodyPr wrap="square" lIns="0" tIns="46800" rIns="0" bIns="46800" anchor="ctr"/>
          <a:lstStyle/>
          <a:p>
            <a:pPr algn="ctr">
              <a:buNone/>
            </a:pP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Q2</a:t>
            </a:r>
          </a:p>
        </p:txBody>
      </p:sp>
      <p:sp>
        <p:nvSpPr>
          <p:cNvPr id="10" name="s10"/>
          <p:cNvSpPr/>
          <p:nvPr/>
        </p:nvSpPr>
        <p:spPr>
          <a:xfrm>
            <a:off x="700000" y="353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00000" tIns="76200" rIns="240000" bIns="76200" anchor="ctr"/>
          <a:lstStyle/>
          <a:p>
            <a:pPr algn="l"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등록 범위 — shadcn 복사 코드와 자동 생성물은 어떻게 처리합니까?</a:t>
            </a:r>
          </a:p>
        </p:txBody>
      </p:sp>
      <p:sp>
        <p:nvSpPr>
          <p:cNvPr id="11" name="s11"/>
          <p:cNvSpPr/>
          <p:nvPr/>
        </p:nvSpPr>
        <p:spPr>
          <a:xfrm>
            <a:off x="863600" y="3691000"/>
            <a:ext cx="584200" cy="508000"/>
          </a:xfrm>
          <a:prstGeom prst="roundRect">
            <a:avLst/>
          </a:prstGeom>
          <a:solidFill>
            <a:srgbClr val="2E5395"/>
          </a:solidFill>
          <a:ln>
            <a:noFill/>
          </a:ln>
        </p:spPr>
        <p:txBody>
          <a:bodyPr wrap="square" lIns="0" tIns="46800" rIns="0" bIns="46800" anchor="ctr"/>
          <a:lstStyle/>
          <a:p>
            <a:pPr algn="ctr">
              <a:buNone/>
            </a:pP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Q3</a:t>
            </a:r>
          </a:p>
        </p:txBody>
      </p:sp>
      <p:sp>
        <p:nvSpPr>
          <p:cNvPr id="12" name="s12"/>
          <p:cNvSpPr/>
          <p:nvPr/>
        </p:nvSpPr>
        <p:spPr>
          <a:xfrm>
            <a:off x="700000" y="447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00000" tIns="76200" rIns="240000" bIns="76200" anchor="ctr"/>
          <a:lstStyle/>
          <a:p>
            <a:pPr algn="l"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특허 — 정말 가망이 없습니까, 아니면 검토해 볼 지점이 남아 있습니까?</a:t>
            </a:r>
          </a:p>
        </p:txBody>
      </p:sp>
      <p:sp>
        <p:nvSpPr>
          <p:cNvPr id="13" name="s13"/>
          <p:cNvSpPr/>
          <p:nvPr/>
        </p:nvSpPr>
        <p:spPr>
          <a:xfrm>
            <a:off x="863600" y="4631000"/>
            <a:ext cx="584200" cy="508000"/>
          </a:xfrm>
          <a:prstGeom prst="roundRect">
            <a:avLst/>
          </a:prstGeom>
          <a:solidFill>
            <a:srgbClr val="2E5395"/>
          </a:solidFill>
          <a:ln>
            <a:noFill/>
          </a:ln>
        </p:spPr>
        <p:txBody>
          <a:bodyPr wrap="square" lIns="0" tIns="46800" rIns="0" bIns="46800" anchor="ctr"/>
          <a:lstStyle/>
          <a:p>
            <a:pPr algn="ctr">
              <a:buNone/>
            </a:pP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Q4</a:t>
            </a:r>
          </a:p>
        </p:txBody>
      </p:sp>
      <p:sp>
        <p:nvSpPr>
          <p:cNvPr id="14" name="s14"/>
          <p:cNvSpPr/>
          <p:nvPr/>
        </p:nvSpPr>
        <p:spPr>
          <a:xfrm>
            <a:off x="700000" y="541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00000" tIns="76200" rIns="240000" bIns="76200" anchor="ctr"/>
          <a:lstStyle/>
          <a:p>
            <a:pPr algn="l"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절차 — 비용 · 기간과 저희가 준비할 서류는 무엇입니까?</a:t>
            </a:r>
          </a:p>
        </p:txBody>
      </p:sp>
      <p:sp>
        <p:nvSpPr>
          <p:cNvPr id="15" name="s15"/>
          <p:cNvSpPr/>
          <p:nvPr/>
        </p:nvSpPr>
        <p:spPr>
          <a:xfrm>
            <a:off x="863600" y="5571000"/>
            <a:ext cx="584200" cy="508000"/>
          </a:xfrm>
          <a:prstGeom prst="roundRect">
            <a:avLst/>
          </a:prstGeom>
          <a:solidFill>
            <a:srgbClr val="2E5395"/>
          </a:solidFill>
          <a:ln>
            <a:noFill/>
          </a:ln>
        </p:spPr>
        <p:txBody>
          <a:bodyPr wrap="square" lIns="0" tIns="46800" rIns="0" bIns="46800" anchor="ctr"/>
          <a:lstStyle/>
          <a:p>
            <a:pPr algn="ctr">
              <a:buNone/>
            </a:pP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Q5</a:t>
            </a:r>
          </a:p>
        </p:txBody>
      </p:sp>
      <p:sp>
        <p:nvSpPr>
          <p:cNvPr id="16" name="s16"/>
          <p:cNvSpPr/>
          <p:nvPr/>
        </p:nvSpPr>
        <p:spPr>
          <a:xfrm>
            <a:off x="7900000" y="6470000"/>
            <a:ext cx="3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React App Scaffold 저작권 상담 자료  ·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16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참고 — 기본 정보 정리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상담에 필요한 사실관계입니다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8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240000" tIns="76200" rIns="143000" bIns="76200" anchor="ctr"/>
          <a:lstStyle/>
          <a:p>
            <a:pPr algn="l">
              <a:buNone/>
            </a:pP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저작물의 명칭 (가칭)     </a:t>
            </a: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React App Scaffold — SI 프로젝트용 프론트엔드 표준 스캐폴드</a:t>
            </a:r>
          </a:p>
        </p:txBody>
      </p:sp>
      <p:sp>
        <p:nvSpPr>
          <p:cNvPr id="7" name="s7"/>
          <p:cNvSpPr/>
          <p:nvPr/>
        </p:nvSpPr>
        <p:spPr>
          <a:xfrm>
            <a:off x="700000" y="2580000"/>
            <a:ext cx="10792000" cy="8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240000" tIns="76200" rIns="143000" bIns="76200" anchor="ctr"/>
          <a:lstStyle/>
          <a:p>
            <a:pPr algn="l">
              <a:buNone/>
            </a:pP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저작자 / 신청인     </a:t>
            </a: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개발자 1인이 주도 — 업무상저작물 해당 여부 확인 필요</a:t>
            </a:r>
          </a:p>
        </p:txBody>
      </p:sp>
      <p:sp>
        <p:nvSpPr>
          <p:cNvPr id="8" name="s8"/>
          <p:cNvSpPr/>
          <p:nvPr/>
        </p:nvSpPr>
        <p:spPr>
          <a:xfrm>
            <a:off x="700000" y="3510000"/>
            <a:ext cx="10792000" cy="8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240000" tIns="76200" rIns="143000" bIns="76200" anchor="ctr"/>
          <a:lstStyle/>
          <a:p>
            <a:pPr algn="l">
              <a:buNone/>
            </a:pP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창작 시점     </a:t>
            </a: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2026. 04. 16 최초 커밋 ~ 현재 · 137회 커밋 이력이 그대로 남아 있습니다</a:t>
            </a:r>
          </a:p>
        </p:txBody>
      </p:sp>
      <p:sp>
        <p:nvSpPr>
          <p:cNvPr id="9" name="s9"/>
          <p:cNvSpPr/>
          <p:nvPr/>
        </p:nvSpPr>
        <p:spPr>
          <a:xfrm>
            <a:off x="700000" y="4440000"/>
            <a:ext cx="10792000" cy="8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240000" tIns="76200" rIns="143000" bIns="76200" anchor="ctr"/>
          <a:lstStyle/>
          <a:p>
            <a:pPr algn="l">
              <a:buNone/>
            </a:pP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규모     </a:t>
            </a: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TypeScript / TSX 165개 파일 · 18,131줄 (제3자 복사 코드 포함 — 분리 필요)</a:t>
            </a:r>
          </a:p>
        </p:txBody>
      </p:sp>
      <p:sp>
        <p:nvSpPr>
          <p:cNvPr id="10" name="s10"/>
          <p:cNvSpPr/>
          <p:nvPr/>
        </p:nvSpPr>
        <p:spPr>
          <a:xfrm>
            <a:off x="700000" y="5370000"/>
            <a:ext cx="10792000" cy="8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240000" tIns="76200" rIns="143000" bIns="76200" anchor="ctr"/>
          <a:lstStyle/>
          <a:p>
            <a:pPr algn="l">
              <a:buNone/>
            </a:pP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공개 상태     </a:t>
            </a: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GitHub 저장소 · 사내 가이드 문서 공개 · LICENSE 미지정</a:t>
            </a:r>
          </a:p>
        </p:txBody>
      </p:sp>
      <p:sp>
        <p:nvSpPr>
          <p:cNvPr id="11" name="s11"/>
          <p:cNvSpPr/>
          <p:nvPr/>
        </p:nvSpPr>
        <p:spPr>
          <a:xfrm>
            <a:off x="700000" y="6320000"/>
            <a:ext cx="7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가이드 문서: http://redsky0212.dothome.co.kr/axiom/react-guide/docs/started/getting-started/overview</a:t>
            </a:r>
          </a:p>
        </p:txBody>
      </p:sp>
      <p:sp>
        <p:nvSpPr>
          <p:cNvPr id="12" name="s12"/>
          <p:cNvSpPr/>
          <p:nvPr/>
        </p:nvSpPr>
        <p:spPr>
          <a:xfrm>
            <a:off x="7900000" y="6470000"/>
            <a:ext cx="3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React App Scaffold 저작권 상담 자료  ·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17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오늘 이후의 순서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오늘 방향이 확인되면, 바로 다음 걸음을 옮기고 싶습니다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2100000"/>
            <a:ext cx="2500000" cy="18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60000" tIns="76200" rIns="160000" bIns="76200" anchor="ctr"/>
          <a:lstStyle/>
          <a:p>
            <a:pPr algn="ctr">
              <a:buNone/>
            </a:pPr>
            <a:r>
              <a:rPr lang="ko-KR" sz="2000" b="1" dirty="0">
                <a:solidFill>
                  <a:srgbClr val="C55A11"/>
                </a:solidFill>
                <a:latin typeface="Malgun Gothic"/>
                <a:ea typeface="Malgun Gothic"/>
              </a:rPr>
              <a:t>1</a:t>
            </a:r>
          </a:p>
          <a:p>
            <a:pPr algn="ctr">
              <a:spcBef>
                <a:spcPts val="300"/>
              </a:spcBef>
              <a:buNone/>
            </a:pPr>
            <a:r>
              <a:rPr lang="ko-KR" sz="1400" b="1" dirty="0">
                <a:solidFill>
                  <a:srgbClr val="1F3864"/>
                </a:solidFill>
                <a:latin typeface="Malgun Gothic"/>
                <a:ea typeface="Malgun Gothic"/>
              </a:rPr>
              <a:t>방향 확인 (오늘)</a:t>
            </a:r>
          </a:p>
          <a:p>
            <a:pPr algn="ctr">
              <a:spcBef>
                <a:spcPts val="300"/>
              </a:spcBef>
              <a:buNone/>
            </a:pPr>
            <a:r>
              <a:rPr lang="ko-KR" sz="1050" dirty="0">
                <a:solidFill>
                  <a:srgbClr val="595959"/>
                </a:solidFill>
                <a:latin typeface="Malgun Gothic"/>
                <a:ea typeface="Malgun Gothic"/>
              </a:rPr>
              <a:t>저작권 등록의 실익 판단</a:t>
            </a:r>
          </a:p>
        </p:txBody>
      </p:sp>
      <p:sp>
        <p:nvSpPr>
          <p:cNvPr id="7" name="s7"/>
          <p:cNvSpPr/>
          <p:nvPr/>
        </p:nvSpPr>
        <p:spPr>
          <a:xfrm>
            <a:off x="3200000" y="2100000"/>
            <a:ext cx="264000" cy="18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8" name="s8"/>
          <p:cNvSpPr/>
          <p:nvPr/>
        </p:nvSpPr>
        <p:spPr>
          <a:xfrm>
            <a:off x="3464000" y="2100000"/>
            <a:ext cx="2500000" cy="18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60000" tIns="76200" rIns="160000" bIns="76200" anchor="ctr"/>
          <a:lstStyle/>
          <a:p>
            <a:pPr algn="ctr">
              <a:buNone/>
            </a:pPr>
            <a:r>
              <a:rPr lang="ko-KR" sz="2000" b="1" dirty="0">
                <a:solidFill>
                  <a:srgbClr val="C55A11"/>
                </a:solidFill>
                <a:latin typeface="Malgun Gothic"/>
                <a:ea typeface="Malgun Gothic"/>
              </a:rPr>
              <a:t>2</a:t>
            </a:r>
          </a:p>
          <a:p>
            <a:pPr algn="ctr">
              <a:spcBef>
                <a:spcPts val="300"/>
              </a:spcBef>
              <a:buNone/>
            </a:pPr>
            <a:r>
              <a:rPr lang="ko-KR" sz="1400" b="1" dirty="0">
                <a:solidFill>
                  <a:srgbClr val="1F3864"/>
                </a:solidFill>
                <a:latin typeface="Malgun Gothic"/>
                <a:ea typeface="Malgun Gothic"/>
              </a:rPr>
              <a:t>권리 관계 정리</a:t>
            </a:r>
          </a:p>
          <a:p>
            <a:pPr algn="ctr">
              <a:spcBef>
                <a:spcPts val="300"/>
              </a:spcBef>
              <a:buNone/>
            </a:pPr>
            <a:r>
              <a:rPr lang="ko-KR" sz="1050" dirty="0">
                <a:solidFill>
                  <a:srgbClr val="595959"/>
                </a:solidFill>
                <a:latin typeface="Malgun Gothic"/>
                <a:ea typeface="Malgun Gothic"/>
              </a:rPr>
              <a:t>회사와 저작자 귀속 합의</a:t>
            </a:r>
          </a:p>
        </p:txBody>
      </p:sp>
      <p:sp>
        <p:nvSpPr>
          <p:cNvPr id="9" name="s9"/>
          <p:cNvSpPr/>
          <p:nvPr/>
        </p:nvSpPr>
        <p:spPr>
          <a:xfrm>
            <a:off x="5964000" y="2100000"/>
            <a:ext cx="264000" cy="18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0" name="s10"/>
          <p:cNvSpPr/>
          <p:nvPr/>
        </p:nvSpPr>
        <p:spPr>
          <a:xfrm>
            <a:off x="6228000" y="2100000"/>
            <a:ext cx="2500000" cy="18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60000" tIns="76200" rIns="160000" bIns="76200" anchor="ctr"/>
          <a:lstStyle/>
          <a:p>
            <a:pPr algn="ctr">
              <a:buNone/>
            </a:pPr>
            <a:r>
              <a:rPr lang="ko-KR" sz="2000" b="1" dirty="0">
                <a:solidFill>
                  <a:srgbClr val="C55A11"/>
                </a:solidFill>
                <a:latin typeface="Malgun Gothic"/>
                <a:ea typeface="Malgun Gothic"/>
              </a:rPr>
              <a:t>3</a:t>
            </a:r>
          </a:p>
          <a:p>
            <a:pPr algn="ctr">
              <a:spcBef>
                <a:spcPts val="300"/>
              </a:spcBef>
              <a:buNone/>
            </a:pPr>
            <a:r>
              <a:rPr lang="ko-KR" sz="1400" b="1" dirty="0">
                <a:solidFill>
                  <a:srgbClr val="1F3864"/>
                </a:solidFill>
                <a:latin typeface="Malgun Gothic"/>
                <a:ea typeface="Malgun Gothic"/>
              </a:rPr>
              <a:t>등록 범위 확정</a:t>
            </a:r>
          </a:p>
          <a:p>
            <a:pPr algn="ctr">
              <a:spcBef>
                <a:spcPts val="300"/>
              </a:spcBef>
              <a:buNone/>
            </a:pPr>
            <a:r>
              <a:rPr lang="ko-KR" sz="1050" dirty="0">
                <a:solidFill>
                  <a:srgbClr val="595959"/>
                </a:solidFill>
                <a:latin typeface="Malgun Gothic"/>
                <a:ea typeface="Malgun Gothic"/>
              </a:rPr>
              <a:t>제3자 코드 · 생성물 분리</a:t>
            </a:r>
          </a:p>
        </p:txBody>
      </p:sp>
      <p:sp>
        <p:nvSpPr>
          <p:cNvPr id="11" name="s11"/>
          <p:cNvSpPr/>
          <p:nvPr/>
        </p:nvSpPr>
        <p:spPr>
          <a:xfrm>
            <a:off x="8728000" y="2100000"/>
            <a:ext cx="264000" cy="18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2" name="s12"/>
          <p:cNvSpPr/>
          <p:nvPr/>
        </p:nvSpPr>
        <p:spPr>
          <a:xfrm>
            <a:off x="8992000" y="2100000"/>
            <a:ext cx="2500000" cy="18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60000" tIns="76200" rIns="160000" bIns="76200" anchor="ctr"/>
          <a:lstStyle/>
          <a:p>
            <a:pPr algn="ctr">
              <a:buNone/>
            </a:pPr>
            <a:r>
              <a:rPr lang="ko-KR" sz="2000" b="1" dirty="0">
                <a:solidFill>
                  <a:srgbClr val="C55A11"/>
                </a:solidFill>
                <a:latin typeface="Malgun Gothic"/>
                <a:ea typeface="Malgun Gothic"/>
              </a:rPr>
              <a:t>4</a:t>
            </a:r>
          </a:p>
          <a:p>
            <a:pPr algn="ctr">
              <a:spcBef>
                <a:spcPts val="300"/>
              </a:spcBef>
              <a:buNone/>
            </a:pPr>
            <a:r>
              <a:rPr lang="ko-KR" sz="1400" b="1" dirty="0">
                <a:solidFill>
                  <a:srgbClr val="1F3864"/>
                </a:solidFill>
                <a:latin typeface="Malgun Gothic"/>
                <a:ea typeface="Malgun Gothic"/>
              </a:rPr>
              <a:t>등록 신청</a:t>
            </a:r>
          </a:p>
          <a:p>
            <a:pPr algn="ctr">
              <a:spcBef>
                <a:spcPts val="300"/>
              </a:spcBef>
              <a:buNone/>
            </a:pPr>
            <a:r>
              <a:rPr lang="ko-KR" sz="1050" dirty="0">
                <a:solidFill>
                  <a:srgbClr val="595959"/>
                </a:solidFill>
                <a:latin typeface="Malgun Gothic"/>
                <a:ea typeface="Malgun Gothic"/>
              </a:rPr>
              <a:t>한국저작권위원회 프로그램 등록</a:t>
            </a:r>
          </a:p>
        </p:txBody>
      </p:sp>
      <p:sp>
        <p:nvSpPr>
          <p:cNvPr id="13" name="s13"/>
          <p:cNvSpPr/>
          <p:nvPr/>
        </p:nvSpPr>
        <p:spPr>
          <a:xfrm>
            <a:off x="700000" y="4300000"/>
            <a:ext cx="10792000" cy="9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300000" tIns="76200" rIns="300000" bIns="76200" anchor="ctr"/>
          <a:lstStyle/>
          <a:p>
            <a:pPr algn="l">
              <a:buNone/>
            </a:pPr>
            <a:r>
              <a:rPr lang="ko-KR" sz="1300" b="1" dirty="0">
                <a:solidFill>
                  <a:srgbClr val="F4B183"/>
                </a:solidFill>
                <a:latin typeface="Malgun Gothic"/>
                <a:ea typeface="Malgun Gothic"/>
              </a:rPr>
              <a:t>자신 있는 점   </a:t>
            </a: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137회의 커밋 이력과 설계 문서가 남아 있어, 창작 과정을 그대로 보여드릴 수 있습니다</a:t>
            </a:r>
          </a:p>
        </p:txBody>
      </p:sp>
      <p:sp>
        <p:nvSpPr>
          <p:cNvPr id="14" name="s14"/>
          <p:cNvSpPr/>
          <p:nvPr/>
        </p:nvSpPr>
        <p:spPr>
          <a:xfrm>
            <a:off x="700000" y="5500000"/>
            <a:ext cx="10792000" cy="7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2000" b="1" dirty="0">
                <a:solidFill>
                  <a:srgbClr val="1F3864"/>
                </a:solidFill>
                <a:latin typeface="Malgun Gothic"/>
                <a:ea typeface="Malgun Gothic"/>
              </a:rPr>
              <a:t>감사합니다</a:t>
            </a:r>
          </a:p>
        </p:txBody>
      </p:sp>
      <p:sp>
        <p:nvSpPr>
          <p:cNvPr id="15" name="s15"/>
          <p:cNvSpPr/>
          <p:nvPr/>
        </p:nvSpPr>
        <p:spPr>
          <a:xfrm>
            <a:off x="7900000" y="6470000"/>
            <a:ext cx="3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React App Scaffold 저작권 상담 자료  ·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iom">
  <a:themeElements>
    <a:clrScheme name="Axiom">
      <a:dk1>
        <a:sysClr val="windowText" lastClr="000000"/>
      </a:dk1>
      <a:lt1>
        <a:sysClr val="window" lastClr="FFFFFF"/>
      </a:lt1>
      <a:dk2>
        <a:srgbClr val="1F3864"/>
      </a:dk2>
      <a:lt2>
        <a:srgbClr val="F2F6FC"/>
      </a:lt2>
      <a:accent1>
        <a:srgbClr val="2E5395"/>
      </a:accent1>
      <a:accent2>
        <a:srgbClr val="C55A11"/>
      </a:accent2>
      <a:accent3>
        <a:srgbClr val="8FAADC"/>
      </a:accent3>
      <a:accent4>
        <a:srgbClr val="2E7D32"/>
      </a:accent4>
      <a:accent5>
        <a:srgbClr val="B02B2B"/>
      </a:accent5>
      <a:accent6>
        <a:srgbClr val="595959"/>
      </a:accent6>
      <a:hlink>
        <a:srgbClr val="0563C1"/>
      </a:hlink>
      <a:folHlink>
        <a:srgbClr val="954F72"/>
      </a:folHlink>
    </a:clrScheme>
    <a:fontScheme name="Axiom">
      <a:majorFont>
        <a:latin typeface="Malgun Gothic"/>
        <a:ea typeface="Malgun Gothic"/>
        <a:cs typeface=""/>
      </a:majorFont>
      <a:minorFont>
        <a:latin typeface="Malgun Gothic"/>
        <a:ea typeface="Malgun 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tint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1826</Words>
  <Application>Microsoft Office PowerPoint</Application>
  <PresentationFormat>와이드스크린</PresentationFormat>
  <Paragraphs>287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Malgun Gothic</vt:lpstr>
      <vt:lpstr>Arial</vt:lpstr>
      <vt:lpstr>Axiom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App Scaffold 저작권 상담 자료</dc:title>
  <dc:creator>redsky0212</dc:creator>
  <cp:lastModifiedBy>닉컴퍼니_02</cp:lastModifiedBy>
  <cp:revision>4</cp:revision>
  <dcterms:created xsi:type="dcterms:W3CDTF">2026-07-10T00:00:00Z</dcterms:created>
  <dcterms:modified xsi:type="dcterms:W3CDTF">2026-07-10T08:18:59Z</dcterms:modified>
</cp:coreProperties>
</file>